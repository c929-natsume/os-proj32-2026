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22.svg" ContentType="image/svg+xml"/>
  <Override PartName="/ppt/media/image4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85" r:id="rId14"/>
    <p:sldId id="266" r:id="rId15"/>
    <p:sldId id="267" r:id="rId16"/>
    <p:sldId id="287" r:id="rId17"/>
    <p:sldId id="268" r:id="rId18"/>
    <p:sldId id="269" r:id="rId19"/>
    <p:sldId id="270" r:id="rId20"/>
    <p:sldId id="271" r:id="rId21"/>
    <p:sldId id="272" r:id="rId22"/>
    <p:sldId id="288" r:id="rId23"/>
    <p:sldId id="273" r:id="rId24"/>
    <p:sldId id="274" r:id="rId25"/>
    <p:sldId id="275" r:id="rId26"/>
    <p:sldId id="276" r:id="rId27"/>
    <p:sldId id="277" r:id="rId28"/>
    <p:sldId id="278" r:id="rId29"/>
    <p:sldId id="279" r:id="rId30"/>
  </p:sldIdLst>
  <p:sldSz cx="12192000" cy="6858000"/>
  <p:notesSz cx="6858000" cy="9144000"/>
  <p:embeddedFontLst>
    <p:embeddedFont>
      <p:font typeface="Calibri" panose="020F0502020204030204"/>
      <p:regular r:id="rId34"/>
      <p:bold r:id="rId35"/>
      <p:italic r:id="rId36"/>
      <p:boldItalic r:id="rId37"/>
    </p:embeddedFont>
    <p:embeddedFont>
      <p:font typeface="Noto Sans SC" panose="020B0200000000000000" charset="-122"/>
      <p:regular r:id="rId38"/>
      <p:bold r:id="rId39"/>
    </p:embeddedFont>
    <p:embeddedFont>
      <p:font typeface="黑体" panose="02010609060101010101" charset="-122"/>
      <p:regular r:id="rId40"/>
    </p:embeddedFont>
  </p:embeddedFontLst>
  <p:custDataLst>
    <p:tags r:id="rId4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076" userDrawn="1">
          <p15:clr>
            <a:srgbClr val="000000"/>
          </p15:clr>
        </p15:guide>
        <p15:guide id="2" pos="2825"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5288"/>
    <a:srgbClr val="015589"/>
    <a:srgbClr val="067790"/>
    <a:srgbClr val="0034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94B9D55-0863-4B58-93C3-68F691CC6A79}"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076"/>
        <p:guide pos="2825"/>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114.xml"/><Relationship Id="rId40" Type="http://schemas.openxmlformats.org/officeDocument/2006/relationships/font" Target="fonts/font7.fntdata"/><Relationship Id="rId4" Type="http://schemas.openxmlformats.org/officeDocument/2006/relationships/notesMaster" Target="notesMasters/notesMaster1.xml"/><Relationship Id="rId39" Type="http://schemas.openxmlformats.org/officeDocument/2006/relationships/font" Target="fonts/font6.fntdata"/><Relationship Id="rId38" Type="http://schemas.openxmlformats.org/officeDocument/2006/relationships/font" Target="fonts/font5.fntdata"/><Relationship Id="rId37" Type="http://schemas.openxmlformats.org/officeDocument/2006/relationships/font" Target="fonts/font4.fntdata"/><Relationship Id="rId36" Type="http://schemas.openxmlformats.org/officeDocument/2006/relationships/font" Target="fonts/font3.fntdata"/><Relationship Id="rId35" Type="http://schemas.openxmlformats.org/officeDocument/2006/relationships/font" Target="fonts/font2.fntdata"/><Relationship Id="rId34" Type="http://schemas.openxmlformats.org/officeDocument/2006/relationships/font" Target="fonts/font1.fntdata"/><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0" name="Google Shape;9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7" name="Google Shape;117;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5" name="Google Shape;12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6" name="Google Shape;14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3" name="Google Shape;173;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6" name="Google Shape;186;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2" name="Shape 192"/>
        <p:cNvGrpSpPr/>
        <p:nvPr/>
      </p:nvGrpSpPr>
      <p:grpSpPr>
        <a:xfrm>
          <a:off x="0" y="0"/>
          <a:ext cx="0" cy="0"/>
          <a:chOff x="0" y="0"/>
          <a:chExt cx="0" cy="0"/>
        </a:xfrm>
      </p:grpSpPr>
      <p:sp>
        <p:nvSpPr>
          <p:cNvPr id="193" name="Google Shape;193;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4" name="Google Shape;194;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1" name="Google Shape;211;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1" name="Google Shape;231;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1" name="Google Shape;231;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4" name="Shape 244"/>
        <p:cNvGrpSpPr/>
        <p:nvPr/>
      </p:nvGrpSpPr>
      <p:grpSpPr>
        <a:xfrm>
          <a:off x="0" y="0"/>
          <a:ext cx="0" cy="0"/>
          <a:chOff x="0" y="0"/>
          <a:chExt cx="0" cy="0"/>
        </a:xfrm>
      </p:grpSpPr>
      <p:sp>
        <p:nvSpPr>
          <p:cNvPr id="245" name="Google Shape;245;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6" name="Google Shape;246;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6" name="Shape 256"/>
        <p:cNvGrpSpPr/>
        <p:nvPr/>
      </p:nvGrpSpPr>
      <p:grpSpPr>
        <a:xfrm>
          <a:off x="0" y="0"/>
          <a:ext cx="0" cy="0"/>
          <a:chOff x="0" y="0"/>
          <a:chExt cx="0" cy="0"/>
        </a:xfrm>
      </p:grpSpPr>
      <p:sp>
        <p:nvSpPr>
          <p:cNvPr id="257" name="Google Shape;257;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8" name="Google Shape;258;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4" name="Shape 244"/>
        <p:cNvGrpSpPr/>
        <p:nvPr/>
      </p:nvGrpSpPr>
      <p:grpSpPr>
        <a:xfrm>
          <a:off x="0" y="0"/>
          <a:ext cx="0" cy="0"/>
          <a:chOff x="0" y="0"/>
          <a:chExt cx="0" cy="0"/>
        </a:xfrm>
      </p:grpSpPr>
      <p:sp>
        <p:nvSpPr>
          <p:cNvPr id="245" name="Google Shape;245;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6" name="Google Shape;246;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1" name="Google Shape;271;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1" name="Google Shape;291;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6" name="Shape 306"/>
        <p:cNvGrpSpPr/>
        <p:nvPr/>
      </p:nvGrpSpPr>
      <p:grpSpPr>
        <a:xfrm>
          <a:off x="0" y="0"/>
          <a:ext cx="0" cy="0"/>
          <a:chOff x="0" y="0"/>
          <a:chExt cx="0" cy="0"/>
        </a:xfrm>
      </p:grpSpPr>
      <p:sp>
        <p:nvSpPr>
          <p:cNvPr id="307" name="Google Shape;307;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8" name="Google Shape;308;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4" name="Shape 314"/>
        <p:cNvGrpSpPr/>
        <p:nvPr/>
      </p:nvGrpSpPr>
      <p:grpSpPr>
        <a:xfrm>
          <a:off x="0" y="0"/>
          <a:ext cx="0" cy="0"/>
          <a:chOff x="0" y="0"/>
          <a:chExt cx="0" cy="0"/>
        </a:xfrm>
      </p:grpSpPr>
      <p:sp>
        <p:nvSpPr>
          <p:cNvPr id="315" name="Google Shape;315;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6" name="Google Shape;316;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8" name="Shape 338"/>
        <p:cNvGrpSpPr/>
        <p:nvPr/>
      </p:nvGrpSpPr>
      <p:grpSpPr>
        <a:xfrm>
          <a:off x="0" y="0"/>
          <a:ext cx="0" cy="0"/>
          <a:chOff x="0" y="0"/>
          <a:chExt cx="0" cy="0"/>
        </a:xfrm>
      </p:grpSpPr>
      <p:sp>
        <p:nvSpPr>
          <p:cNvPr id="339" name="Google Shape;339;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40" name="Google Shape;340;p1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9" name="Shape 349"/>
        <p:cNvGrpSpPr/>
        <p:nvPr/>
      </p:nvGrpSpPr>
      <p:grpSpPr>
        <a:xfrm>
          <a:off x="0" y="0"/>
          <a:ext cx="0" cy="0"/>
          <a:chOff x="0" y="0"/>
          <a:chExt cx="0" cy="0"/>
        </a:xfrm>
      </p:grpSpPr>
      <p:sp>
        <p:nvSpPr>
          <p:cNvPr id="350" name="Google Shape;350;p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51" name="Google Shape;351;p1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7" name="Shape 357"/>
        <p:cNvGrpSpPr/>
        <p:nvPr/>
      </p:nvGrpSpPr>
      <p:grpSpPr>
        <a:xfrm>
          <a:off x="0" y="0"/>
          <a:ext cx="0" cy="0"/>
          <a:chOff x="0" y="0"/>
          <a:chExt cx="0" cy="0"/>
        </a:xfrm>
      </p:grpSpPr>
      <p:sp>
        <p:nvSpPr>
          <p:cNvPr id="358" name="Google Shape;358;p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59" name="Google Shape;359;p1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0" name="Shape 370"/>
        <p:cNvGrpSpPr/>
        <p:nvPr/>
      </p:nvGrpSpPr>
      <p:grpSpPr>
        <a:xfrm>
          <a:off x="0" y="0"/>
          <a:ext cx="0" cy="0"/>
          <a:chOff x="0" y="0"/>
          <a:chExt cx="0" cy="0"/>
        </a:xfrm>
      </p:grpSpPr>
      <p:sp>
        <p:nvSpPr>
          <p:cNvPr id="371" name="Google Shape;371;p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2" name="Google Shape;372;p2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0" name="Shape 390"/>
        <p:cNvGrpSpPr/>
        <p:nvPr/>
      </p:nvGrpSpPr>
      <p:grpSpPr>
        <a:xfrm>
          <a:off x="0" y="0"/>
          <a:ext cx="0" cy="0"/>
          <a:chOff x="0" y="0"/>
          <a:chExt cx="0" cy="0"/>
        </a:xfrm>
      </p:grpSpPr>
      <p:sp>
        <p:nvSpPr>
          <p:cNvPr id="391" name="Google Shape;391;p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92" name="Google Shape;392;p2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8" name="Shape 408"/>
        <p:cNvGrpSpPr/>
        <p:nvPr/>
      </p:nvGrpSpPr>
      <p:grpSpPr>
        <a:xfrm>
          <a:off x="0" y="0"/>
          <a:ext cx="0" cy="0"/>
          <a:chOff x="0" y="0"/>
          <a:chExt cx="0" cy="0"/>
        </a:xfrm>
      </p:grpSpPr>
      <p:sp>
        <p:nvSpPr>
          <p:cNvPr id="409" name="Google Shape;409;p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10" name="Google Shape;410;p2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6" name="Shape 416"/>
        <p:cNvGrpSpPr/>
        <p:nvPr/>
      </p:nvGrpSpPr>
      <p:grpSpPr>
        <a:xfrm>
          <a:off x="0" y="0"/>
          <a:ext cx="0" cy="0"/>
          <a:chOff x="0" y="0"/>
          <a:chExt cx="0" cy="0"/>
        </a:xfrm>
      </p:grpSpPr>
      <p:sp>
        <p:nvSpPr>
          <p:cNvPr id="417" name="Google Shape;417;p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18" name="Google Shape;418;p2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8" name="Shape 428"/>
        <p:cNvGrpSpPr/>
        <p:nvPr/>
      </p:nvGrpSpPr>
      <p:grpSpPr>
        <a:xfrm>
          <a:off x="0" y="0"/>
          <a:ext cx="0" cy="0"/>
          <a:chOff x="0" y="0"/>
          <a:chExt cx="0" cy="0"/>
        </a:xfrm>
      </p:grpSpPr>
      <p:sp>
        <p:nvSpPr>
          <p:cNvPr id="429" name="Google Shape;429;p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30" name="Google Shape;430;p2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3.png"/><Relationship Id="rId2" Type="http://schemas.openxmlformats.org/officeDocument/2006/relationships/tags" Target="../tags/tag1.xml"/><Relationship Id="rId19" Type="http://schemas.openxmlformats.org/officeDocument/2006/relationships/notesSlide" Target="../notesSlides/notesSlide2.xml"/><Relationship Id="rId18" Type="http://schemas.openxmlformats.org/officeDocument/2006/relationships/slideLayout" Target="../slideLayouts/slideLayout1.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image" Target="../media/image7.png"/><Relationship Id="rId2" Type="http://schemas.openxmlformats.org/officeDocument/2006/relationships/tags" Target="../tags/tag16.xml"/><Relationship Id="rId13" Type="http://schemas.openxmlformats.org/officeDocument/2006/relationships/notesSlide" Target="../notesSlides/notesSlide8.xml"/><Relationship Id="rId12" Type="http://schemas.openxmlformats.org/officeDocument/2006/relationships/slideLayout" Target="../slideLayouts/slideLayout1.xml"/><Relationship Id="rId11" Type="http://schemas.openxmlformats.org/officeDocument/2006/relationships/image" Target="../media/image9.png"/><Relationship Id="rId10" Type="http://schemas.openxmlformats.org/officeDocument/2006/relationships/image" Target="../media/image8.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image" Target="../media/image12.png"/><Relationship Id="rId6" Type="http://schemas.openxmlformats.org/officeDocument/2006/relationships/tags" Target="../tags/tag25.xml"/><Relationship Id="rId5" Type="http://schemas.openxmlformats.org/officeDocument/2006/relationships/image" Target="../media/image11.png"/><Relationship Id="rId4" Type="http://schemas.openxmlformats.org/officeDocument/2006/relationships/tags" Target="../tags/tag24.xml"/><Relationship Id="rId3" Type="http://schemas.openxmlformats.org/officeDocument/2006/relationships/image" Target="../media/image10.png"/><Relationship Id="rId21" Type="http://schemas.openxmlformats.org/officeDocument/2006/relationships/notesSlide" Target="../notesSlides/notesSlide9.xml"/><Relationship Id="rId20" Type="http://schemas.openxmlformats.org/officeDocument/2006/relationships/slideLayout" Target="../slideLayouts/slideLayout1.xml"/><Relationship Id="rId2" Type="http://schemas.openxmlformats.org/officeDocument/2006/relationships/tags" Target="../tags/tag23.xml"/><Relationship Id="rId19" Type="http://schemas.openxmlformats.org/officeDocument/2006/relationships/image" Target="../media/image15.png"/><Relationship Id="rId18" Type="http://schemas.openxmlformats.org/officeDocument/2006/relationships/tags" Target="../tags/tag34.xml"/><Relationship Id="rId17" Type="http://schemas.openxmlformats.org/officeDocument/2006/relationships/image" Target="../media/image14.png"/><Relationship Id="rId16" Type="http://schemas.openxmlformats.org/officeDocument/2006/relationships/tags" Target="../tags/tag33.xml"/><Relationship Id="rId15" Type="http://schemas.openxmlformats.org/officeDocument/2006/relationships/image" Target="../media/image13.png"/><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image" Target="../media/image17.png"/><Relationship Id="rId4" Type="http://schemas.openxmlformats.org/officeDocument/2006/relationships/tags" Target="../tags/tag36.xml"/><Relationship Id="rId30" Type="http://schemas.openxmlformats.org/officeDocument/2006/relationships/notesSlide" Target="../notesSlides/notesSlide10.xml"/><Relationship Id="rId3" Type="http://schemas.openxmlformats.org/officeDocument/2006/relationships/image" Target="../media/image16.png"/><Relationship Id="rId29" Type="http://schemas.openxmlformats.org/officeDocument/2006/relationships/slideLayout" Target="../slideLayouts/slideLayout1.xml"/><Relationship Id="rId28" Type="http://schemas.openxmlformats.org/officeDocument/2006/relationships/image" Target="../media/image22.svg"/><Relationship Id="rId27" Type="http://schemas.openxmlformats.org/officeDocument/2006/relationships/image" Target="../media/image21.png"/><Relationship Id="rId26" Type="http://schemas.openxmlformats.org/officeDocument/2006/relationships/tags" Target="../tags/tag54.xml"/><Relationship Id="rId25" Type="http://schemas.openxmlformats.org/officeDocument/2006/relationships/image" Target="../media/image20.png"/><Relationship Id="rId24" Type="http://schemas.openxmlformats.org/officeDocument/2006/relationships/tags" Target="../tags/tag53.xml"/><Relationship Id="rId23" Type="http://schemas.openxmlformats.org/officeDocument/2006/relationships/image" Target="../media/image19.png"/><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5.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image" Target="../media/image18.png"/><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image" Target="../media/image7.png"/><Relationship Id="rId4" Type="http://schemas.openxmlformats.org/officeDocument/2006/relationships/tags" Target="../tags/tag56.xml"/><Relationship Id="rId30" Type="http://schemas.openxmlformats.org/officeDocument/2006/relationships/notesSlide" Target="../notesSlides/notesSlide13.xml"/><Relationship Id="rId3" Type="http://schemas.openxmlformats.org/officeDocument/2006/relationships/image" Target="../media/image26.png"/><Relationship Id="rId29" Type="http://schemas.openxmlformats.org/officeDocument/2006/relationships/slideLayout" Target="../slideLayouts/slideLayout1.xml"/><Relationship Id="rId28" Type="http://schemas.openxmlformats.org/officeDocument/2006/relationships/tags" Target="../tags/tag74.xml"/><Relationship Id="rId27" Type="http://schemas.openxmlformats.org/officeDocument/2006/relationships/image" Target="../media/image31.png"/><Relationship Id="rId26" Type="http://schemas.openxmlformats.org/officeDocument/2006/relationships/tags" Target="../tags/tag73.xml"/><Relationship Id="rId25" Type="http://schemas.openxmlformats.org/officeDocument/2006/relationships/image" Target="../media/image30.png"/><Relationship Id="rId24" Type="http://schemas.openxmlformats.org/officeDocument/2006/relationships/tags" Target="../tags/tag72.xml"/><Relationship Id="rId23" Type="http://schemas.openxmlformats.org/officeDocument/2006/relationships/image" Target="../media/image29.png"/><Relationship Id="rId22" Type="http://schemas.openxmlformats.org/officeDocument/2006/relationships/tags" Target="../tags/tag71.xml"/><Relationship Id="rId21" Type="http://schemas.openxmlformats.org/officeDocument/2006/relationships/image" Target="../media/image28.png"/><Relationship Id="rId20" Type="http://schemas.openxmlformats.org/officeDocument/2006/relationships/tags" Target="../tags/tag70.xml"/><Relationship Id="rId2" Type="http://schemas.openxmlformats.org/officeDocument/2006/relationships/tags" Target="../tags/tag55.xml"/><Relationship Id="rId19" Type="http://schemas.openxmlformats.org/officeDocument/2006/relationships/image" Target="../media/image27.png"/><Relationship Id="rId18" Type="http://schemas.openxmlformats.org/officeDocument/2006/relationships/tags" Target="../tags/tag69.xml"/><Relationship Id="rId17" Type="http://schemas.openxmlformats.org/officeDocument/2006/relationships/tags" Target="../tags/tag68.xml"/><Relationship Id="rId16" Type="http://schemas.openxmlformats.org/officeDocument/2006/relationships/tags" Target="../tags/tag67.xml"/><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24.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image" Target="../media/image35.png"/><Relationship Id="rId6" Type="http://schemas.openxmlformats.org/officeDocument/2006/relationships/tags" Target="../tags/tag77.xml"/><Relationship Id="rId5" Type="http://schemas.openxmlformats.org/officeDocument/2006/relationships/image" Target="../media/image34.png"/><Relationship Id="rId4" Type="http://schemas.openxmlformats.org/officeDocument/2006/relationships/tags" Target="../tags/tag76.xml"/><Relationship Id="rId3" Type="http://schemas.openxmlformats.org/officeDocument/2006/relationships/image" Target="../media/image33.png"/><Relationship Id="rId21" Type="http://schemas.openxmlformats.org/officeDocument/2006/relationships/notesSlide" Target="../notesSlides/notesSlide15.xml"/><Relationship Id="rId20" Type="http://schemas.openxmlformats.org/officeDocument/2006/relationships/slideLayout" Target="../slideLayouts/slideLayout1.xml"/><Relationship Id="rId2" Type="http://schemas.openxmlformats.org/officeDocument/2006/relationships/tags" Target="../tags/tag75.xml"/><Relationship Id="rId19" Type="http://schemas.openxmlformats.org/officeDocument/2006/relationships/image" Target="../media/image38.png"/><Relationship Id="rId18" Type="http://schemas.openxmlformats.org/officeDocument/2006/relationships/tags" Target="../tags/tag86.xml"/><Relationship Id="rId17" Type="http://schemas.openxmlformats.org/officeDocument/2006/relationships/image" Target="../media/image37.png"/><Relationship Id="rId16" Type="http://schemas.openxmlformats.org/officeDocument/2006/relationships/tags" Target="../tags/tag85.xml"/><Relationship Id="rId15" Type="http://schemas.openxmlformats.org/officeDocument/2006/relationships/image" Target="../media/image36.png"/><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image" Target="../media/image39.png"/><Relationship Id="rId13" Type="http://schemas.openxmlformats.org/officeDocument/2006/relationships/notesSlide" Target="../notesSlides/notesSlide16.xml"/><Relationship Id="rId12" Type="http://schemas.openxmlformats.org/officeDocument/2006/relationships/slideLayout" Target="../slideLayouts/slideLayout1.xml"/><Relationship Id="rId11" Type="http://schemas.openxmlformats.org/officeDocument/2006/relationships/image" Target="../media/image40.png"/><Relationship Id="rId10" Type="http://schemas.openxmlformats.org/officeDocument/2006/relationships/tags" Target="../tags/tag94.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41.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2.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xml"/><Relationship Id="rId5" Type="http://schemas.openxmlformats.org/officeDocument/2006/relationships/image" Target="../media/image46.sv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tags" Target="../tags/tag105.xml"/><Relationship Id="rId7" Type="http://schemas.openxmlformats.org/officeDocument/2006/relationships/tags" Target="../tags/tag104.xml"/><Relationship Id="rId6" Type="http://schemas.openxmlformats.org/officeDocument/2006/relationships/image" Target="../media/image47.png"/><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image" Target="../media/image16.png"/><Relationship Id="rId18" Type="http://schemas.openxmlformats.org/officeDocument/2006/relationships/notesSlide" Target="../notesSlides/notesSlide25.xml"/><Relationship Id="rId17" Type="http://schemas.openxmlformats.org/officeDocument/2006/relationships/slideLayout" Target="../slideLayouts/slideLayout1.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83"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85" name="Google Shape;85;p13"/>
          <p:cNvSpPr txBox="1"/>
          <p:nvPr/>
        </p:nvSpPr>
        <p:spPr>
          <a:xfrm>
            <a:off x="2096753" y="1898302"/>
            <a:ext cx="7998343" cy="13716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rPr>
              <a:t>基于 eBPF 的系统级多智能体</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rPr>
              <a:t> 异常监测框架与方法</a:t>
            </a:r>
            <a:endPar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endParaRPr>
          </a:p>
        </p:txBody>
      </p:sp>
      <p:sp>
        <p:nvSpPr>
          <p:cNvPr id="86" name="Google Shape;86;p13"/>
          <p:cNvSpPr txBox="1"/>
          <p:nvPr/>
        </p:nvSpPr>
        <p:spPr>
          <a:xfrm>
            <a:off x="2360850" y="3549302"/>
            <a:ext cx="7617469" cy="44259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 CoreSight 设计、实现与测试 ——</a:t>
            </a:r>
            <a:endPar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7" name="Google Shape;87;p13"/>
          <p:cNvSpPr txBox="1"/>
          <p:nvPr/>
        </p:nvSpPr>
        <p:spPr>
          <a:xfrm>
            <a:off x="2287190" y="4207073"/>
            <a:ext cx="7617469" cy="306070"/>
          </a:xfrm>
          <a:prstGeom prst="rect">
            <a:avLst/>
          </a:prstGeom>
          <a:noFill/>
          <a:ln>
            <a:noFill/>
          </a:ln>
        </p:spPr>
        <p:txBody>
          <a:bodyPr spcFirstLastPara="1" wrap="square" lIns="0" tIns="0" rIns="0" bIns="0" anchor="t" anchorCtr="0">
            <a:spAutoFit/>
          </a:bodyPr>
          <a:lstStyle/>
          <a:p>
            <a:pPr marL="0" marR="0" lvl="0" indent="0" algn="ctr" rtl="0">
              <a:lnSpc>
                <a:spcPct val="133000"/>
              </a:lnSpc>
              <a:spcBef>
                <a:spcPts val="0"/>
              </a:spcBef>
              <a:spcAft>
                <a:spcPts val="0"/>
              </a:spcAft>
              <a:buNone/>
            </a:pPr>
            <a:r>
              <a:rPr lang="en-US" sz="1500" b="0" i="0" u="none" strike="noStrike" cap="none">
                <a:solidFill>
                  <a:srgbClr val="DAE6F0"/>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团队名称：熔岩芝士烤冷面 </a:t>
            </a:r>
            <a:endParaRPr lang="en-US" sz="1500" b="0" i="0" u="none" strike="noStrike" cap="none">
              <a:solidFill>
                <a:srgbClr val="DAE6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91" name="Shape 91"/>
        <p:cNvGrpSpPr/>
        <p:nvPr/>
      </p:nvGrpSpPr>
      <p:grpSpPr>
        <a:xfrm>
          <a:off x="0" y="0"/>
          <a:ext cx="0" cy="0"/>
          <a:chOff x="0" y="0"/>
          <a:chExt cx="0" cy="0"/>
        </a:xfrm>
      </p:grpSpPr>
      <p:pic>
        <p:nvPicPr>
          <p:cNvPr id="92" name="Google Shape;92;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 name="Google Shape;93;p14" descr="image.png"/>
          <p:cNvPicPr preferRelativeResize="0"/>
          <p:nvPr>
            <p:custDataLst>
              <p:tags r:id="rId2"/>
            </p:custDataLst>
          </p:nvPr>
        </p:nvPicPr>
        <p:blipFill rotWithShape="1">
          <a:blip r:embed="rId3"/>
          <a:srcRect/>
          <a:stretch>
            <a:fillRect/>
          </a:stretch>
        </p:blipFill>
        <p:spPr>
          <a:xfrm>
            <a:off x="572770" y="5769610"/>
            <a:ext cx="10730230" cy="972000"/>
          </a:xfrm>
          <a:prstGeom prst="rect">
            <a:avLst/>
          </a:prstGeom>
          <a:noFill/>
          <a:ln>
            <a:noFill/>
          </a:ln>
        </p:spPr>
      </p:pic>
      <p:pic>
        <p:nvPicPr>
          <p:cNvPr id="7" name="Google Shape;93;p14" descr="image.png"/>
          <p:cNvPicPr preferRelativeResize="0"/>
          <p:nvPr>
            <p:custDataLst>
              <p:tags r:id="rId4"/>
            </p:custDataLst>
          </p:nvPr>
        </p:nvPicPr>
        <p:blipFill rotWithShape="1">
          <a:blip r:embed="rId3"/>
          <a:srcRect/>
          <a:stretch>
            <a:fillRect/>
          </a:stretch>
        </p:blipFill>
        <p:spPr>
          <a:xfrm>
            <a:off x="572770" y="4618355"/>
            <a:ext cx="10730230" cy="972000"/>
          </a:xfrm>
          <a:prstGeom prst="rect">
            <a:avLst/>
          </a:prstGeom>
          <a:noFill/>
          <a:ln>
            <a:noFill/>
          </a:ln>
        </p:spPr>
      </p:pic>
      <p:pic>
        <p:nvPicPr>
          <p:cNvPr id="6" name="Google Shape;93;p14" descr="image.png"/>
          <p:cNvPicPr preferRelativeResize="0"/>
          <p:nvPr>
            <p:custDataLst>
              <p:tags r:id="rId5"/>
            </p:custDataLst>
          </p:nvPr>
        </p:nvPicPr>
        <p:blipFill rotWithShape="1">
          <a:blip r:embed="rId3"/>
          <a:srcRect/>
          <a:stretch>
            <a:fillRect/>
          </a:stretch>
        </p:blipFill>
        <p:spPr>
          <a:xfrm>
            <a:off x="572770" y="3467100"/>
            <a:ext cx="10730230" cy="972000"/>
          </a:xfrm>
          <a:prstGeom prst="rect">
            <a:avLst/>
          </a:prstGeom>
          <a:noFill/>
          <a:ln>
            <a:noFill/>
          </a:ln>
        </p:spPr>
      </p:pic>
      <p:pic>
        <p:nvPicPr>
          <p:cNvPr id="5" name="Google Shape;93;p14" descr="image.png"/>
          <p:cNvPicPr preferRelativeResize="0"/>
          <p:nvPr>
            <p:custDataLst>
              <p:tags r:id="rId6"/>
            </p:custDataLst>
          </p:nvPr>
        </p:nvPicPr>
        <p:blipFill rotWithShape="1">
          <a:blip r:embed="rId3"/>
          <a:srcRect/>
          <a:stretch>
            <a:fillRect/>
          </a:stretch>
        </p:blipFill>
        <p:spPr>
          <a:xfrm>
            <a:off x="572770" y="2315845"/>
            <a:ext cx="10730230" cy="972000"/>
          </a:xfrm>
          <a:prstGeom prst="rect">
            <a:avLst/>
          </a:prstGeom>
          <a:noFill/>
          <a:ln>
            <a:noFill/>
          </a:ln>
        </p:spPr>
      </p:pic>
      <p:pic>
        <p:nvPicPr>
          <p:cNvPr id="93" name="Google Shape;93;p14" descr="image.png"/>
          <p:cNvPicPr preferRelativeResize="0"/>
          <p:nvPr>
            <p:custDataLst>
              <p:tags r:id="rId7"/>
            </p:custDataLst>
          </p:nvPr>
        </p:nvPicPr>
        <p:blipFill rotWithShape="1">
          <a:blip r:embed="rId3"/>
          <a:srcRect/>
          <a:stretch>
            <a:fillRect/>
          </a:stretch>
        </p:blipFill>
        <p:spPr>
          <a:xfrm>
            <a:off x="572770" y="1164590"/>
            <a:ext cx="10730230" cy="972000"/>
          </a:xfrm>
          <a:prstGeom prst="rect">
            <a:avLst/>
          </a:prstGeom>
          <a:noFill/>
          <a:ln>
            <a:noFill/>
          </a:ln>
        </p:spPr>
      </p:pic>
      <p:sp>
        <p:nvSpPr>
          <p:cNvPr id="98" name="Google Shape;98;p14"/>
          <p:cNvSpPr txBox="1"/>
          <p:nvPr>
            <p:custDataLst>
              <p:tags r:id="rId8"/>
            </p:custDataLst>
          </p:nvPr>
        </p:nvSpPr>
        <p:spPr>
          <a:xfrm>
            <a:off x="866775" y="1319817"/>
            <a:ext cx="3113670"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Part1：研究背景</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99" name="Google Shape;99;p14"/>
          <p:cNvSpPr txBox="1"/>
          <p:nvPr>
            <p:custDataLst>
              <p:tags r:id="rId9"/>
            </p:custDataLst>
          </p:nvPr>
        </p:nvSpPr>
        <p:spPr>
          <a:xfrm>
            <a:off x="866775" y="1619537"/>
            <a:ext cx="29654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项目背景、赛题挑战与创新点对比。</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0" name="Google Shape;100;p14"/>
          <p:cNvSpPr txBox="1"/>
          <p:nvPr>
            <p:custDataLst>
              <p:tags r:id="rId10"/>
            </p:custDataLst>
          </p:nvPr>
        </p:nvSpPr>
        <p:spPr>
          <a:xfrm>
            <a:off x="866725" y="2439957"/>
            <a:ext cx="3113670"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Part2：系统实现</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01" name="Google Shape;101;p14"/>
          <p:cNvSpPr txBox="1"/>
          <p:nvPr>
            <p:custDataLst>
              <p:tags r:id="rId11"/>
            </p:custDataLst>
          </p:nvPr>
        </p:nvSpPr>
        <p:spPr>
          <a:xfrm>
            <a:off x="866775" y="2739390"/>
            <a:ext cx="8646795" cy="3321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 eBPF 捕获、单体与多体异常算法、归因设计。</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2" name="Google Shape;102;p14"/>
          <p:cNvSpPr txBox="1"/>
          <p:nvPr>
            <p:custDataLst>
              <p:tags r:id="rId12"/>
            </p:custDataLst>
          </p:nvPr>
        </p:nvSpPr>
        <p:spPr>
          <a:xfrm>
            <a:off x="866675" y="3591212"/>
            <a:ext cx="3113670"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Part3：系统测试</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03" name="Google Shape;103;p14"/>
          <p:cNvSpPr txBox="1"/>
          <p:nvPr>
            <p:custDataLst>
              <p:tags r:id="rId13"/>
            </p:custDataLst>
          </p:nvPr>
        </p:nvSpPr>
        <p:spPr>
          <a:xfrm>
            <a:off x="866675" y="3890932"/>
            <a:ext cx="29654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功能覆盖率与极低损耗的性能指标验证。</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 name="Google Shape;104;p14"/>
          <p:cNvSpPr txBox="1"/>
          <p:nvPr>
            <p:custDataLst>
              <p:tags r:id="rId14"/>
            </p:custDataLst>
          </p:nvPr>
        </p:nvSpPr>
        <p:spPr>
          <a:xfrm>
            <a:off x="866775" y="4750028"/>
            <a:ext cx="5080635"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Part4：项目说明</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05" name="Google Shape;105;p14"/>
          <p:cNvSpPr txBox="1"/>
          <p:nvPr>
            <p:custDataLst>
              <p:tags r:id="rId15"/>
            </p:custDataLst>
          </p:nvPr>
        </p:nvSpPr>
        <p:spPr>
          <a:xfrm>
            <a:off x="866775" y="5115788"/>
            <a:ext cx="48387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研发难点攻坚、团队分工及开源组件使用说明。</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6" name="Google Shape;106;p14"/>
          <p:cNvSpPr txBox="1"/>
          <p:nvPr>
            <p:custDataLst>
              <p:tags r:id="rId16"/>
            </p:custDataLst>
          </p:nvPr>
        </p:nvSpPr>
        <p:spPr>
          <a:xfrm>
            <a:off x="866775" y="5908903"/>
            <a:ext cx="5080635"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Part5：未来规划</a:t>
            </a:r>
            <a:r>
              <a:rPr lang="zh-CN" altLang="en-US" sz="19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与展望</a:t>
            </a:r>
            <a:endParaRPr lang="zh-CN" altLang="en-US" sz="19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endParaRPr>
          </a:p>
        </p:txBody>
      </p:sp>
      <p:sp>
        <p:nvSpPr>
          <p:cNvPr id="107" name="Google Shape;107;p14"/>
          <p:cNvSpPr txBox="1"/>
          <p:nvPr>
            <p:custDataLst>
              <p:tags r:id="rId17"/>
            </p:custDataLst>
          </p:nvPr>
        </p:nvSpPr>
        <p:spPr>
          <a:xfrm>
            <a:off x="866775" y="6287363"/>
            <a:ext cx="48387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系统演进路线与大规模智能体支持展望。</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3" name="Google Shape;113;p14"/>
          <p:cNvSpPr txBox="1"/>
          <p:nvPr/>
        </p:nvSpPr>
        <p:spPr>
          <a:xfrm>
            <a:off x="762000" y="571500"/>
            <a:ext cx="11401425" cy="876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内容目录 / </a:t>
            </a:r>
            <a:r>
              <a:rPr lang="en-US" altLang="zh-CN" sz="2850" b="1" i="0" u="none" strike="noStrike" cap="none">
                <a:solidFill>
                  <a:srgbClr val="003366"/>
                </a:solidFill>
                <a:latin typeface="Arial" panose="020B0604020202020204"/>
                <a:ea typeface="Arial" panose="020B0604020202020204"/>
                <a:cs typeface="Arial" panose="020B0604020202020204"/>
                <a:sym typeface="Arial" panose="020B0604020202020204"/>
              </a:rPr>
              <a:t>Contents</a:t>
            </a:r>
            <a:endParaRPr lang="en-US" altLang="zh-CN"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altLang="zh-CN"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14" name="Google Shape;114;p14"/>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18" name="Shape 118"/>
        <p:cNvGrpSpPr/>
        <p:nvPr/>
      </p:nvGrpSpPr>
      <p:grpSpPr>
        <a:xfrm>
          <a:off x="0" y="0"/>
          <a:ext cx="0" cy="0"/>
          <a:chOff x="0" y="0"/>
          <a:chExt cx="0" cy="0"/>
        </a:xfrm>
      </p:grpSpPr>
      <p:pic>
        <p:nvPicPr>
          <p:cNvPr id="119" name="Google Shape;119;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20" name="Google Shape;120;p15"/>
          <p:cNvSpPr/>
          <p:nvPr/>
        </p:nvSpPr>
        <p:spPr>
          <a:xfrm>
            <a:off x="5619750" y="2574577"/>
            <a:ext cx="952500" cy="4762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1" name="Google Shape;121;p15"/>
          <p:cNvSpPr txBox="1"/>
          <p:nvPr/>
        </p:nvSpPr>
        <p:spPr>
          <a:xfrm>
            <a:off x="3695700" y="2907952"/>
            <a:ext cx="4800600" cy="692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rPr>
              <a:t>Part1.研究背景</a:t>
            </a:r>
            <a:endPar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endParaRPr>
          </a:p>
        </p:txBody>
      </p:sp>
      <p:sp>
        <p:nvSpPr>
          <p:cNvPr id="122" name="Google Shape;122;p15"/>
          <p:cNvSpPr txBox="1"/>
          <p:nvPr/>
        </p:nvSpPr>
        <p:spPr>
          <a:xfrm>
            <a:off x="5262562" y="4060477"/>
            <a:ext cx="1666875"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挑战与创新对齐</a:t>
            </a:r>
            <a:endPar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26" name="Shape 126"/>
        <p:cNvGrpSpPr/>
        <p:nvPr/>
      </p:nvGrpSpPr>
      <p:grpSpPr>
        <a:xfrm>
          <a:off x="0" y="0"/>
          <a:ext cx="0" cy="0"/>
          <a:chOff x="0" y="0"/>
          <a:chExt cx="0" cy="0"/>
        </a:xfrm>
      </p:grpSpPr>
      <p:pic>
        <p:nvPicPr>
          <p:cNvPr id="127" name="Google Shape;127;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8" name="Google Shape;128;p16" descr="image.png"/>
          <p:cNvPicPr preferRelativeResize="0"/>
          <p:nvPr/>
        </p:nvPicPr>
        <p:blipFill rotWithShape="1">
          <a:blip r:embed="rId2"/>
          <a:srcRect/>
          <a:stretch>
            <a:fillRect/>
          </a:stretch>
        </p:blipFill>
        <p:spPr>
          <a:xfrm>
            <a:off x="571500" y="2073622"/>
            <a:ext cx="5286375" cy="3482131"/>
          </a:xfrm>
          <a:prstGeom prst="rect">
            <a:avLst/>
          </a:prstGeom>
          <a:noFill/>
          <a:ln>
            <a:noFill/>
          </a:ln>
        </p:spPr>
      </p:pic>
      <p:pic>
        <p:nvPicPr>
          <p:cNvPr id="129" name="Google Shape;129;p16" descr="image.png"/>
          <p:cNvPicPr preferRelativeResize="0"/>
          <p:nvPr/>
        </p:nvPicPr>
        <p:blipFill rotWithShape="1">
          <a:blip r:embed="rId3"/>
          <a:srcRect/>
          <a:stretch>
            <a:fillRect/>
          </a:stretch>
        </p:blipFill>
        <p:spPr>
          <a:xfrm>
            <a:off x="6334125" y="2073622"/>
            <a:ext cx="5286375" cy="3482131"/>
          </a:xfrm>
          <a:prstGeom prst="rect">
            <a:avLst/>
          </a:prstGeom>
          <a:noFill/>
          <a:ln>
            <a:noFill/>
          </a:ln>
        </p:spPr>
      </p:pic>
      <p:sp>
        <p:nvSpPr>
          <p:cNvPr id="130" name="Google Shape;130;p16"/>
          <p:cNvSpPr txBox="1"/>
          <p:nvPr/>
        </p:nvSpPr>
        <p:spPr>
          <a:xfrm>
            <a:off x="962025" y="2464147"/>
            <a:ext cx="473059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行业背景与安全风险</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31" name="Google Shape;131;p16"/>
          <p:cNvSpPr txBox="1"/>
          <p:nvPr/>
        </p:nvSpPr>
        <p:spPr>
          <a:xfrm>
            <a:off x="962025" y="2940397"/>
            <a:ext cx="45053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随着大模型端侧智能体（如 Claude Code, AutoGen）的发展，多智能体协作逐渐成为主流。智能体的高度自主性伴随着潜在的系统级安全风险：</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2" name="Google Shape;132;p16"/>
          <p:cNvSpPr txBox="1"/>
          <p:nvPr/>
        </p:nvSpPr>
        <p:spPr>
          <a:xfrm>
            <a:off x="6724650" y="2464147"/>
            <a:ext cx="473059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现有方案的核心挑战</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33" name="Google Shape;133;p16"/>
          <p:cNvSpPr txBox="1"/>
          <p:nvPr/>
        </p:nvSpPr>
        <p:spPr>
          <a:xfrm>
            <a:off x="6724650" y="2940397"/>
            <a:ext cx="45053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现有监测体系存在明显的“观测盲区”与“语义鸿沟”：</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5" name="Google Shape;135;p16"/>
          <p:cNvSpPr txBox="1"/>
          <p:nvPr/>
        </p:nvSpPr>
        <p:spPr>
          <a:xfrm>
            <a:off x="962025" y="4068067"/>
            <a:ext cx="4124325" cy="332105"/>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资源滥用：</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模型幻觉容易引发逻辑死循环与资源空转。</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7" name="Google Shape;137;p16"/>
          <p:cNvSpPr txBox="1"/>
          <p:nvPr/>
        </p:nvSpPr>
        <p:spPr>
          <a:xfrm>
            <a:off x="962025" y="4454723"/>
            <a:ext cx="4124325" cy="54858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安全越权：</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恶意提示词注入可能诱导执行高危操作（如越权访问敏感文件、启动非预期 Shell）。</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9" name="Google Shape;139;p16"/>
          <p:cNvSpPr txBox="1"/>
          <p:nvPr/>
        </p:nvSpPr>
        <p:spPr>
          <a:xfrm>
            <a:off x="6724650" y="3357562"/>
            <a:ext cx="4124325" cy="54858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应用层工具 (LangSmith等)：</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局限于 API 与上下文追踪，无法感知操作系统底层的实际文件或网络行为。</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1" name="Google Shape;141;p16"/>
          <p:cNvSpPr txBox="1"/>
          <p:nvPr/>
        </p:nvSpPr>
        <p:spPr>
          <a:xfrm>
            <a:off x="6724650" y="4058542"/>
            <a:ext cx="4124325" cy="82287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内核级工具 (Falco等)：</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基于 eBPF 捕获底层系统调用，但缺乏高层语义上下文，无法回溯是哪个 Prompt 导致了底层的异常行为。</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2" name="Google Shape;142;p16"/>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1.1 研究背景与问题挑战</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43" name="Google Shape;143;p16"/>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47" name="Shape 147"/>
        <p:cNvGrpSpPr/>
        <p:nvPr/>
      </p:nvGrpSpPr>
      <p:grpSpPr>
        <a:xfrm>
          <a:off x="0" y="0"/>
          <a:ext cx="0" cy="0"/>
          <a:chOff x="0" y="0"/>
          <a:chExt cx="0" cy="0"/>
        </a:xfrm>
      </p:grpSpPr>
      <p:pic>
        <p:nvPicPr>
          <p:cNvPr id="148" name="Google Shape;148;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49" name="Google Shape;149;p17" descr="image.png"/>
          <p:cNvPicPr preferRelativeResize="0"/>
          <p:nvPr/>
        </p:nvPicPr>
        <p:blipFill rotWithShape="1">
          <a:blip r:embed="rId2"/>
          <a:srcRect/>
          <a:stretch>
            <a:fillRect/>
          </a:stretch>
        </p:blipFill>
        <p:spPr>
          <a:xfrm>
            <a:off x="571500" y="5880735"/>
            <a:ext cx="11049635" cy="730885"/>
          </a:xfrm>
          <a:prstGeom prst="rect">
            <a:avLst/>
          </a:prstGeom>
          <a:noFill/>
          <a:ln>
            <a:noFill/>
          </a:ln>
        </p:spPr>
      </p:pic>
      <p:sp>
        <p:nvSpPr>
          <p:cNvPr id="150" name="Google Shape;150;p17"/>
          <p:cNvSpPr/>
          <p:nvPr/>
        </p:nvSpPr>
        <p:spPr>
          <a:xfrm>
            <a:off x="571500" y="1695450"/>
            <a:ext cx="8724900" cy="315456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151" name="Google Shape;151;p17"/>
          <p:cNvGraphicFramePr/>
          <p:nvPr/>
        </p:nvGraphicFramePr>
        <p:xfrm>
          <a:off x="571500" y="1311275"/>
          <a:ext cx="11049635" cy="4416425"/>
        </p:xfrm>
        <a:graphic>
          <a:graphicData uri="http://schemas.openxmlformats.org/drawingml/2006/table">
            <a:tbl>
              <a:tblPr firstRow="1" bandRow="1">
                <a:noFill/>
                <a:tableStyleId>{D94B9D55-0863-4B58-93C3-68F691CC6A79}</a:tableStyleId>
              </a:tblPr>
              <a:tblGrid>
                <a:gridCol w="1983105"/>
                <a:gridCol w="2102485"/>
                <a:gridCol w="1994535"/>
                <a:gridCol w="2177906"/>
                <a:gridCol w="2791460"/>
              </a:tblGrid>
              <a:tr h="630900">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对比维度</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应用层观测工具</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内核安全工具 </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p>
                      <a:pPr marL="0" marR="0" lvl="0" indent="0" algn="l" rtl="0">
                        <a:spcBef>
                          <a:spcPts val="0"/>
                        </a:spcBef>
                        <a:spcAft>
                          <a:spcPts val="0"/>
                        </a:spcAft>
                        <a:buNone/>
                      </a:pPr>
                      <a:r>
                        <a:rPr lang="en-US" altLang="zh-CN" sz="1500" b="1" i="0" u="none" strike="noStrike" cap="none">
                          <a:solidFill>
                            <a:srgbClr val="F3F0DF"/>
                          </a:solidFill>
                          <a:latin typeface="Arial" panose="020B0604020202020204"/>
                          <a:ea typeface="Arial" panose="020B0604020202020204"/>
                          <a:cs typeface="Arial" panose="020B0604020202020204"/>
                          <a:sym typeface="Arial" panose="020B0604020202020204"/>
                        </a:rPr>
                        <a:t>AgentSight</a:t>
                      </a:r>
                      <a:endParaRPr lang="en-US" altLang="zh-CN"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本项目</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r>
              <a:tr h="630900">
                <a:tc>
                  <a:txBody>
                    <a:bodyPr/>
                    <a:lstStyle/>
                    <a:p>
                      <a:pPr marL="0" marR="0" lvl="0" indent="0" algn="l" rtl="0">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系统侵入性</a:t>
                      </a:r>
                      <a:endPar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需引入</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SDK</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零侵入</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零侵入</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零侵入</a:t>
                      </a:r>
                      <a:endPar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900">
                <a:tc>
                  <a:txBody>
                    <a:bodyPr/>
                    <a:lstStyle/>
                    <a:p>
                      <a:pPr marL="0" marR="0" lvl="0" indent="0" algn="l" rtl="0">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应用层语义观测</a:t>
                      </a:r>
                      <a:endPar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900">
                <a:tc>
                  <a:txBody>
                    <a:bodyPr/>
                    <a:lstStyle/>
                    <a:p>
                      <a:pPr marL="0" marR="0" lvl="0" indent="0" algn="l" rtl="0">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内核态行为观测</a:t>
                      </a:r>
                      <a:endPar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zh-CN" alt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900">
                <a:tc>
                  <a:txBody>
                    <a:bodyPr/>
                    <a:lstStyle/>
                    <a:p>
                      <a:pPr marL="0" marR="0" lvl="0" indent="0" algn="l" rtl="0">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跨层因果关联</a:t>
                      </a:r>
                      <a:endPar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zh-CN" alt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zh-CN" alt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900">
                <a:tc>
                  <a:txBody>
                    <a:bodyPr/>
                    <a:p>
                      <a:pPr marL="0" marR="0" lvl="0" indent="0" algn="l" rtl="0">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多</a:t>
                      </a:r>
                      <a:r>
                        <a:rPr lang="en-US" altLang="zh-CN"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a:t>
                      </a: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协作异常检测</a:t>
                      </a:r>
                      <a:endPar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有限</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间接</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部分支持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zh-CN" alt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900">
                <a:tc>
                  <a:txBody>
                    <a:bodyPr/>
                    <a:p>
                      <a:pPr marL="0" marR="0" lvl="0" indent="0" algn="l" rtl="0">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协作拓扑区分</a:t>
                      </a:r>
                      <a:endPar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不区分</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不区分</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不区分</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区分</a:t>
                      </a:r>
                      <a:endParaRPr lang="zh-CN" alt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152" name="Google Shape;152;p17"/>
          <p:cNvSpPr txBox="1"/>
          <p:nvPr/>
        </p:nvSpPr>
        <p:spPr>
          <a:xfrm>
            <a:off x="866775" y="6080125"/>
            <a:ext cx="10389870" cy="3321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核心亮点：</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非侵入式内核态监测、跨层数据关联与语义贯通、结构化区分协作拓扑的大规模多维异常检测能力。</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9" name="Google Shape;169;p17"/>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1.2 调研对比与核心创新点</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70" name="Google Shape;170;p17"/>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74" name="Shape 174"/>
        <p:cNvGrpSpPr/>
        <p:nvPr/>
      </p:nvGrpSpPr>
      <p:grpSpPr>
        <a:xfrm>
          <a:off x="0" y="0"/>
          <a:ext cx="0" cy="0"/>
          <a:chOff x="0" y="0"/>
          <a:chExt cx="0" cy="0"/>
        </a:xfrm>
      </p:grpSpPr>
      <p:pic>
        <p:nvPicPr>
          <p:cNvPr id="175" name="Google Shape;175;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76" name="Google Shape;176;p18"/>
          <p:cNvSpPr txBox="1"/>
          <p:nvPr/>
        </p:nvSpPr>
        <p:spPr>
          <a:xfrm>
            <a:off x="1286510" y="2085975"/>
            <a:ext cx="9572625" cy="919480"/>
          </a:xfrm>
          <a:prstGeom prst="rect">
            <a:avLst/>
          </a:prstGeom>
          <a:noFill/>
          <a:ln>
            <a:noFill/>
          </a:ln>
        </p:spPr>
        <p:txBody>
          <a:bodyPr spcFirstLastPara="1" wrap="square" lIns="0" tIns="0" rIns="0" bIns="0" anchor="t" anchorCtr="0">
            <a:spAutoFit/>
          </a:bodyPr>
          <a:lstStyle/>
          <a:p>
            <a:pPr marL="0" marR="0" lvl="0" indent="0" algn="l" rtl="0">
              <a:lnSpc>
                <a:spcPct val="133000"/>
              </a:lnSpc>
              <a:spcBef>
                <a:spcPts val="0"/>
              </a:spcBef>
              <a:spcAft>
                <a:spcPts val="0"/>
              </a:spcAft>
              <a:buNone/>
            </a:pPr>
            <a:r>
              <a:rPr lang="en-US" sz="15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功能实现与异常回溯 </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系统成功突破“语义鸿沟”，建立了跨层数据关联策略。能够精准回溯“特定 Prompt 引发底层高危操作”的完整因果链路，输出结构化归因日志。</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7" name="Google Shape;177;p18"/>
          <p:cNvSpPr txBox="1"/>
          <p:nvPr/>
        </p:nvSpPr>
        <p:spPr>
          <a:xfrm>
            <a:off x="1286510" y="3238500"/>
            <a:ext cx="9572625" cy="919480"/>
          </a:xfrm>
          <a:prstGeom prst="rect">
            <a:avLst/>
          </a:prstGeom>
          <a:noFill/>
          <a:ln>
            <a:noFill/>
          </a:ln>
        </p:spPr>
        <p:txBody>
          <a:bodyPr spcFirstLastPara="1" wrap="square" lIns="0" tIns="0" rIns="0" bIns="0" anchor="t" anchorCtr="0">
            <a:spAutoFit/>
          </a:bodyPr>
          <a:lstStyle/>
          <a:p>
            <a:pPr marL="0" marR="0" lvl="0" indent="0" algn="l" rtl="0">
              <a:lnSpc>
                <a:spcPct val="133000"/>
              </a:lnSpc>
              <a:spcBef>
                <a:spcPts val="0"/>
              </a:spcBef>
              <a:spcAft>
                <a:spcPts val="0"/>
              </a:spcAft>
              <a:buNone/>
            </a:pPr>
            <a:r>
              <a:rPr lang="en-US" sz="15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观测深度与兼容性</a:t>
            </a: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全面发挥非侵入式优势。利用 eBPF (kprobes/uprobes) 截获进程、网络与真实文件路径，并跨多种库截获 HTTPS 明文，</a:t>
            </a:r>
            <a:r>
              <a:rPr lang="en-US" sz="15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无需修改内核源码或重编译</a:t>
            </a: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8" name="Google Shape;178;p18"/>
          <p:cNvSpPr txBox="1"/>
          <p:nvPr/>
        </p:nvSpPr>
        <p:spPr>
          <a:xfrm>
            <a:off x="1286510" y="4391025"/>
            <a:ext cx="9572625" cy="919480"/>
          </a:xfrm>
          <a:prstGeom prst="rect">
            <a:avLst/>
          </a:prstGeom>
          <a:noFill/>
          <a:ln>
            <a:noFill/>
          </a:ln>
        </p:spPr>
        <p:txBody>
          <a:bodyPr spcFirstLastPara="1" wrap="square" lIns="0" tIns="0" rIns="0" bIns="0" anchor="t" anchorCtr="0">
            <a:spAutoFit/>
          </a:bodyPr>
          <a:lstStyle/>
          <a:p>
            <a:pPr marL="0" marR="0" lvl="0" indent="0" algn="l" rtl="0">
              <a:lnSpc>
                <a:spcPct val="133000"/>
              </a:lnSpc>
              <a:spcBef>
                <a:spcPts val="0"/>
              </a:spcBef>
              <a:spcAft>
                <a:spcPts val="0"/>
              </a:spcAft>
              <a:buNone/>
            </a:pPr>
            <a:r>
              <a:rPr lang="en-US" sz="15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系统性能与工程</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采用“内核态轻量采集 + 用户态 (Redis解耦) 重量分析”的架构，大幅降低系统端侧损耗，实现严格的资源开销控制（&lt;5%）。</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2" name="Google Shape;182;p18"/>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1.3 设计思路与赛题评审契合度</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83" name="Google Shape;183;p18"/>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87" name="Shape 187"/>
        <p:cNvGrpSpPr/>
        <p:nvPr/>
      </p:nvGrpSpPr>
      <p:grpSpPr>
        <a:xfrm>
          <a:off x="0" y="0"/>
          <a:ext cx="0" cy="0"/>
          <a:chOff x="0" y="0"/>
          <a:chExt cx="0" cy="0"/>
        </a:xfrm>
      </p:grpSpPr>
      <p:pic>
        <p:nvPicPr>
          <p:cNvPr id="188" name="Google Shape;188;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89" name="Google Shape;189;p19"/>
          <p:cNvSpPr/>
          <p:nvPr/>
        </p:nvSpPr>
        <p:spPr>
          <a:xfrm>
            <a:off x="5619750" y="2574577"/>
            <a:ext cx="952500" cy="4762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0" name="Google Shape;190;p19"/>
          <p:cNvSpPr txBox="1"/>
          <p:nvPr/>
        </p:nvSpPr>
        <p:spPr>
          <a:xfrm>
            <a:off x="3695700" y="2907952"/>
            <a:ext cx="4800600" cy="692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rPr>
              <a:t>Part2.系统实现</a:t>
            </a:r>
            <a:endPar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endParaRPr>
          </a:p>
        </p:txBody>
      </p:sp>
      <p:sp>
        <p:nvSpPr>
          <p:cNvPr id="191" name="Google Shape;191;p19"/>
          <p:cNvSpPr txBox="1"/>
          <p:nvPr/>
        </p:nvSpPr>
        <p:spPr>
          <a:xfrm>
            <a:off x="5143500" y="4060477"/>
            <a:ext cx="190500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采集、分析与归因</a:t>
            </a:r>
            <a:endPar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95" name="Shape 195"/>
        <p:cNvGrpSpPr/>
        <p:nvPr/>
      </p:nvGrpSpPr>
      <p:grpSpPr>
        <a:xfrm>
          <a:off x="0" y="0"/>
          <a:ext cx="0" cy="0"/>
          <a:chOff x="0" y="0"/>
          <a:chExt cx="0" cy="0"/>
        </a:xfrm>
      </p:grpSpPr>
      <p:pic>
        <p:nvPicPr>
          <p:cNvPr id="196" name="Google Shape;196;p2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97" name="Google Shape;197;p20" descr="image.png"/>
          <p:cNvPicPr preferRelativeResize="0"/>
          <p:nvPr>
            <p:custDataLst>
              <p:tags r:id="rId2"/>
            </p:custDataLst>
          </p:nvPr>
        </p:nvPicPr>
        <p:blipFill rotWithShape="1">
          <a:blip r:embed="rId3"/>
          <a:srcRect/>
          <a:stretch>
            <a:fillRect/>
          </a:stretch>
        </p:blipFill>
        <p:spPr>
          <a:xfrm>
            <a:off x="571500" y="2057717"/>
            <a:ext cx="5286375" cy="3693616"/>
          </a:xfrm>
          <a:prstGeom prst="rect">
            <a:avLst/>
          </a:prstGeom>
          <a:noFill/>
          <a:ln>
            <a:noFill/>
          </a:ln>
        </p:spPr>
      </p:pic>
      <p:sp>
        <p:nvSpPr>
          <p:cNvPr id="199" name="Google Shape;199;p20"/>
          <p:cNvSpPr txBox="1"/>
          <p:nvPr/>
        </p:nvSpPr>
        <p:spPr>
          <a:xfrm>
            <a:off x="571500" y="1640552"/>
            <a:ext cx="5286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项目整体采用四层解耦架构设计，确保极高的实时性与扩展性：</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0" name="Google Shape;200;p20"/>
          <p:cNvSpPr txBox="1"/>
          <p:nvPr>
            <p:custDataLst>
              <p:tags r:id="rId4"/>
            </p:custDataLst>
          </p:nvPr>
        </p:nvSpPr>
        <p:spPr>
          <a:xfrm>
            <a:off x="866775" y="2295842"/>
            <a:ext cx="499062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1. 数据采集层 (eBPF)</a:t>
            </a:r>
            <a:endPar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01" name="Google Shape;201;p20"/>
          <p:cNvSpPr txBox="1"/>
          <p:nvPr>
            <p:custDataLst>
              <p:tags r:id="rId5"/>
            </p:custDataLst>
          </p:nvPr>
        </p:nvSpPr>
        <p:spPr>
          <a:xfrm>
            <a:off x="866775" y="2558097"/>
            <a:ext cx="47529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 kprobe/tracepoint/uprobes 在内核态实时捕获系统调用 (execve, open, connect) 与 HTTPS 明文事件。</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2" name="Google Shape;202;p20"/>
          <p:cNvSpPr txBox="1"/>
          <p:nvPr>
            <p:custDataLst>
              <p:tags r:id="rId6"/>
            </p:custDataLst>
          </p:nvPr>
        </p:nvSpPr>
        <p:spPr>
          <a:xfrm>
            <a:off x="867410" y="3464182"/>
            <a:ext cx="499062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2. 上下文缓冲层 (Redis)</a:t>
            </a:r>
            <a:endPar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03" name="Google Shape;203;p20"/>
          <p:cNvSpPr txBox="1"/>
          <p:nvPr>
            <p:custDataLst>
              <p:tags r:id="rId7"/>
            </p:custDataLst>
          </p:nvPr>
        </p:nvSpPr>
        <p:spPr>
          <a:xfrm>
            <a:off x="866775" y="3749932"/>
            <a:ext cx="47529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作为高速中间件，解耦内核高频事件与用户态分析，提供持久化事件流与 O(1) 复杂度的关系拓扑维护。</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4" name="Google Shape;204;p20"/>
          <p:cNvSpPr txBox="1"/>
          <p:nvPr>
            <p:custDataLst>
              <p:tags r:id="rId8"/>
            </p:custDataLst>
          </p:nvPr>
        </p:nvSpPr>
        <p:spPr>
          <a:xfrm>
            <a:off x="866775" y="4631888"/>
            <a:ext cx="499062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3. 跨层分析层</a:t>
            </a:r>
            <a:endPar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05" name="Google Shape;205;p20"/>
          <p:cNvSpPr txBox="1"/>
          <p:nvPr>
            <p:custDataLst>
              <p:tags r:id="rId9"/>
            </p:custDataLst>
          </p:nvPr>
        </p:nvSpPr>
        <p:spPr>
          <a:xfrm>
            <a:off x="866775" y="4844613"/>
            <a:ext cx="47529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分离 </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Intra-agent</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(单体) 与 </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Inter-agent</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(多体协作) 两个维度的实时检测逻辑。</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7" name="Google Shape;207;p20"/>
          <p:cNvSpPr txBox="1"/>
          <p:nvPr/>
        </p:nvSpPr>
        <p:spPr>
          <a:xfrm>
            <a:off x="762000" y="452755"/>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2.1 系统整体架构</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08" name="Google Shape;208;p20"/>
          <p:cNvSpPr/>
          <p:nvPr/>
        </p:nvSpPr>
        <p:spPr>
          <a:xfrm>
            <a:off x="571500" y="452755"/>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98" name="Google Shape;198;p20" descr="image.png"/>
          <p:cNvPicPr preferRelativeResize="0"/>
          <p:nvPr/>
        </p:nvPicPr>
        <p:blipFill rotWithShape="1">
          <a:blip r:embed="rId10"/>
          <a:srcRect/>
          <a:stretch>
            <a:fillRect/>
          </a:stretch>
        </p:blipFill>
        <p:spPr>
          <a:xfrm>
            <a:off x="6334125" y="1914237"/>
            <a:ext cx="5286375" cy="3810000"/>
          </a:xfrm>
          <a:prstGeom prst="rect">
            <a:avLst/>
          </a:prstGeom>
          <a:noFill/>
          <a:ln>
            <a:noFill/>
          </a:ln>
        </p:spPr>
      </p:pic>
      <p:pic>
        <p:nvPicPr>
          <p:cNvPr id="1" name="图片 0"/>
          <p:cNvPicPr/>
          <p:nvPr/>
        </p:nvPicPr>
        <p:blipFill>
          <a:blip r:embed="rId11"/>
          <a:stretch>
            <a:fillRect/>
          </a:stretch>
        </p:blipFill>
        <p:spPr>
          <a:xfrm>
            <a:off x="6334125" y="1957705"/>
            <a:ext cx="5448300" cy="37934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212" name="Shape 212"/>
        <p:cNvGrpSpPr/>
        <p:nvPr/>
      </p:nvGrpSpPr>
      <p:grpSpPr>
        <a:xfrm>
          <a:off x="0" y="0"/>
          <a:ext cx="0" cy="0"/>
          <a:chOff x="0" y="0"/>
          <a:chExt cx="0" cy="0"/>
        </a:xfrm>
      </p:grpSpPr>
      <p:pic>
        <p:nvPicPr>
          <p:cNvPr id="213" name="Google Shape;213;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14" name="Google Shape;214;p21" descr="image.png"/>
          <p:cNvPicPr preferRelativeResize="0"/>
          <p:nvPr>
            <p:custDataLst>
              <p:tags r:id="rId2"/>
            </p:custDataLst>
          </p:nvPr>
        </p:nvPicPr>
        <p:blipFill rotWithShape="1">
          <a:blip r:embed="rId3"/>
          <a:srcRect/>
          <a:stretch>
            <a:fillRect/>
          </a:stretch>
        </p:blipFill>
        <p:spPr>
          <a:xfrm>
            <a:off x="571500" y="2584102"/>
            <a:ext cx="3492549" cy="2925960"/>
          </a:xfrm>
          <a:prstGeom prst="rect">
            <a:avLst/>
          </a:prstGeom>
          <a:noFill/>
          <a:ln>
            <a:noFill/>
          </a:ln>
        </p:spPr>
      </p:pic>
      <p:pic>
        <p:nvPicPr>
          <p:cNvPr id="215" name="Google Shape;215;p21" descr="image.png"/>
          <p:cNvPicPr preferRelativeResize="0"/>
          <p:nvPr>
            <p:custDataLst>
              <p:tags r:id="rId4"/>
            </p:custDataLst>
          </p:nvPr>
        </p:nvPicPr>
        <p:blipFill rotWithShape="1">
          <a:blip r:embed="rId5"/>
          <a:srcRect/>
          <a:stretch>
            <a:fillRect/>
          </a:stretch>
        </p:blipFill>
        <p:spPr>
          <a:xfrm>
            <a:off x="4349799" y="2584102"/>
            <a:ext cx="3492549" cy="2925960"/>
          </a:xfrm>
          <a:prstGeom prst="rect">
            <a:avLst/>
          </a:prstGeom>
          <a:noFill/>
          <a:ln>
            <a:noFill/>
          </a:ln>
        </p:spPr>
      </p:pic>
      <p:pic>
        <p:nvPicPr>
          <p:cNvPr id="216" name="Google Shape;216;p21" descr="image.png"/>
          <p:cNvPicPr preferRelativeResize="0"/>
          <p:nvPr>
            <p:custDataLst>
              <p:tags r:id="rId6"/>
            </p:custDataLst>
          </p:nvPr>
        </p:nvPicPr>
        <p:blipFill rotWithShape="1">
          <a:blip r:embed="rId7"/>
          <a:srcRect/>
          <a:stretch>
            <a:fillRect/>
          </a:stretch>
        </p:blipFill>
        <p:spPr>
          <a:xfrm>
            <a:off x="8128099" y="2584102"/>
            <a:ext cx="3492549" cy="2925960"/>
          </a:xfrm>
          <a:prstGeom prst="rect">
            <a:avLst/>
          </a:prstGeom>
          <a:noFill/>
          <a:ln>
            <a:noFill/>
          </a:ln>
        </p:spPr>
      </p:pic>
      <p:sp>
        <p:nvSpPr>
          <p:cNvPr id="217" name="Google Shape;217;p21"/>
          <p:cNvSpPr txBox="1"/>
          <p:nvPr/>
        </p:nvSpPr>
        <p:spPr>
          <a:xfrm>
            <a:off x="571500" y="2119312"/>
            <a:ext cx="6791622"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针对多种主流编程语言和运行环境，系统设计了差异化的 </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Uprobes 零侵入明文挂载策略</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8" name="Google Shape;218;p21"/>
          <p:cNvSpPr txBox="1"/>
          <p:nvPr>
            <p:custDataLst>
              <p:tags r:id="rId8"/>
            </p:custDataLst>
          </p:nvPr>
        </p:nvSpPr>
        <p:spPr>
          <a:xfrm>
            <a:off x="866775" y="3498502"/>
            <a:ext cx="3047099"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Go TLS (云原生)</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19" name="Google Shape;219;p21"/>
          <p:cNvSpPr txBox="1"/>
          <p:nvPr>
            <p:custDataLst>
              <p:tags r:id="rId9"/>
            </p:custDataLst>
          </p:nvPr>
        </p:nvSpPr>
        <p:spPr>
          <a:xfrm>
            <a:off x="866775" y="3974752"/>
            <a:ext cx="2901999"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适配 Go ABI 规范，挂载 crypto/tls.(*Conn).Write。作为同步调用，直接从底层寄存器 (BX/CX) 读取参数，截获明文。</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0" name="Google Shape;220;p21"/>
          <p:cNvSpPr txBox="1"/>
          <p:nvPr>
            <p:custDataLst>
              <p:tags r:id="rId10"/>
            </p:custDataLst>
          </p:nvPr>
        </p:nvSpPr>
        <p:spPr>
          <a:xfrm>
            <a:off x="4645074" y="3498502"/>
            <a:ext cx="3047099"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BoringSSL (静态编译)</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21" name="Google Shape;221;p21"/>
          <p:cNvSpPr txBox="1"/>
          <p:nvPr>
            <p:custDataLst>
              <p:tags r:id="rId11"/>
            </p:custDataLst>
          </p:nvPr>
        </p:nvSpPr>
        <p:spPr>
          <a:xfrm>
            <a:off x="4645074" y="3974752"/>
            <a:ext cx="2901999"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针对抹除符号表的程序，将 ELF 映射入内存，扫描字节码特征定位 SSL 入口，计算</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相对物理偏移量</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进行精准 Hook。</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2" name="Google Shape;222;p21"/>
          <p:cNvSpPr txBox="1"/>
          <p:nvPr>
            <p:custDataLst>
              <p:tags r:id="rId12"/>
            </p:custDataLst>
          </p:nvPr>
        </p:nvSpPr>
        <p:spPr>
          <a:xfrm>
            <a:off x="8423374" y="3498502"/>
            <a:ext cx="3047099"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OpenSSL (动态链接)</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23" name="Google Shape;223;p21"/>
          <p:cNvSpPr txBox="1"/>
          <p:nvPr>
            <p:custDataLst>
              <p:tags r:id="rId13"/>
            </p:custDataLst>
          </p:nvPr>
        </p:nvSpPr>
        <p:spPr>
          <a:xfrm>
            <a:off x="8423374" y="3974752"/>
            <a:ext cx="2901999"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 /proc/pid/maps，对 libssl.so 库中的 SSL_read / SSL_write 按符号名进行常规 Uprobe 挂载拦截。</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4" name="Google Shape;224;p21" descr="image.png"/>
          <p:cNvPicPr preferRelativeResize="0"/>
          <p:nvPr>
            <p:custDataLst>
              <p:tags r:id="rId14"/>
            </p:custDataLst>
          </p:nvPr>
        </p:nvPicPr>
        <p:blipFill rotWithShape="1">
          <a:blip r:embed="rId15"/>
          <a:srcRect/>
          <a:stretch>
            <a:fillRect/>
          </a:stretch>
        </p:blipFill>
        <p:spPr>
          <a:xfrm>
            <a:off x="866775" y="2907952"/>
            <a:ext cx="296465" cy="381000"/>
          </a:xfrm>
          <a:prstGeom prst="rect">
            <a:avLst/>
          </a:prstGeom>
          <a:noFill/>
          <a:ln>
            <a:noFill/>
          </a:ln>
        </p:spPr>
      </p:pic>
      <p:pic>
        <p:nvPicPr>
          <p:cNvPr id="225" name="Google Shape;225;p21" descr="image.png"/>
          <p:cNvPicPr preferRelativeResize="0"/>
          <p:nvPr>
            <p:custDataLst>
              <p:tags r:id="rId16"/>
            </p:custDataLst>
          </p:nvPr>
        </p:nvPicPr>
        <p:blipFill rotWithShape="1">
          <a:blip r:embed="rId17"/>
          <a:srcRect/>
          <a:stretch>
            <a:fillRect/>
          </a:stretch>
        </p:blipFill>
        <p:spPr>
          <a:xfrm>
            <a:off x="4645074" y="2907952"/>
            <a:ext cx="296465" cy="381000"/>
          </a:xfrm>
          <a:prstGeom prst="rect">
            <a:avLst/>
          </a:prstGeom>
          <a:noFill/>
          <a:ln>
            <a:noFill/>
          </a:ln>
        </p:spPr>
      </p:pic>
      <p:pic>
        <p:nvPicPr>
          <p:cNvPr id="226" name="Google Shape;226;p21" descr="image.png"/>
          <p:cNvPicPr preferRelativeResize="0"/>
          <p:nvPr>
            <p:custDataLst>
              <p:tags r:id="rId18"/>
            </p:custDataLst>
          </p:nvPr>
        </p:nvPicPr>
        <p:blipFill rotWithShape="1">
          <a:blip r:embed="rId19"/>
          <a:srcRect/>
          <a:stretch>
            <a:fillRect/>
          </a:stretch>
        </p:blipFill>
        <p:spPr>
          <a:xfrm>
            <a:off x="8423374" y="2907952"/>
            <a:ext cx="296465" cy="381000"/>
          </a:xfrm>
          <a:prstGeom prst="rect">
            <a:avLst/>
          </a:prstGeom>
          <a:noFill/>
          <a:ln>
            <a:noFill/>
          </a:ln>
        </p:spPr>
      </p:pic>
      <p:sp>
        <p:nvSpPr>
          <p:cNvPr id="227" name="Google Shape;227;p21"/>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2.2 实现一：多层级数据与明文捕获</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28" name="Google Shape;228;p21"/>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232" name="Shape 232"/>
        <p:cNvGrpSpPr/>
        <p:nvPr/>
      </p:nvGrpSpPr>
      <p:grpSpPr>
        <a:xfrm>
          <a:off x="0" y="0"/>
          <a:ext cx="0" cy="0"/>
          <a:chOff x="0" y="0"/>
          <a:chExt cx="0" cy="0"/>
        </a:xfrm>
      </p:grpSpPr>
      <p:pic>
        <p:nvPicPr>
          <p:cNvPr id="233" name="Google Shape;233;p22" descr="image.png"/>
          <p:cNvPicPr preferRelativeResize="0"/>
          <p:nvPr/>
        </p:nvPicPr>
        <p:blipFill rotWithShape="1">
          <a:blip r:embed="rId1"/>
          <a:srcRect/>
          <a:stretch>
            <a:fillRect/>
          </a:stretch>
        </p:blipFill>
        <p:spPr>
          <a:xfrm>
            <a:off x="0" y="-168910"/>
            <a:ext cx="12192000" cy="6858000"/>
          </a:xfrm>
          <a:prstGeom prst="rect">
            <a:avLst/>
          </a:prstGeom>
          <a:noFill/>
          <a:ln>
            <a:noFill/>
          </a:ln>
        </p:spPr>
      </p:pic>
      <p:sp>
        <p:nvSpPr>
          <p:cNvPr id="236" name="Google Shape;236;p22"/>
          <p:cNvSpPr txBox="1"/>
          <p:nvPr/>
        </p:nvSpPr>
        <p:spPr>
          <a:xfrm>
            <a:off x="571500" y="1761232"/>
            <a:ext cx="6372671"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通过追踪单 Agent 独立系统的底层时序特征，精准防范五大类本地环境的安全危机：</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2" name="Google Shape;242;p22"/>
          <p:cNvSpPr txBox="1"/>
          <p:nvPr/>
        </p:nvSpPr>
        <p:spPr>
          <a:xfrm>
            <a:off x="762000" y="571500"/>
            <a:ext cx="11401425"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2.3 实现二：Intra-Agent 单体异常检测</a:t>
            </a:r>
            <a:r>
              <a:rPr lang="zh-CN" altLang="en-US" sz="28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类型</a:t>
            </a:r>
            <a:endParaRPr lang="zh-CN" altLang="en-US" sz="28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endParaRPr>
          </a:p>
        </p:txBody>
      </p:sp>
      <p:sp>
        <p:nvSpPr>
          <p:cNvPr id="243" name="Google Shape;243;p22"/>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 name="Google Shape;234;p22" descr="image.png"/>
          <p:cNvPicPr preferRelativeResize="0"/>
          <p:nvPr>
            <p:custDataLst>
              <p:tags r:id="rId2"/>
            </p:custDataLst>
          </p:nvPr>
        </p:nvPicPr>
        <p:blipFill rotWithShape="1">
          <a:blip r:embed="rId3"/>
          <a:srcRect/>
          <a:stretch>
            <a:fillRect/>
          </a:stretch>
        </p:blipFill>
        <p:spPr>
          <a:xfrm>
            <a:off x="571500" y="2459990"/>
            <a:ext cx="4034790" cy="828040"/>
          </a:xfrm>
          <a:prstGeom prst="rect">
            <a:avLst/>
          </a:prstGeom>
          <a:noFill/>
          <a:ln>
            <a:noFill/>
          </a:ln>
        </p:spPr>
      </p:pic>
      <p:pic>
        <p:nvPicPr>
          <p:cNvPr id="231" name="Google Shape;231;p21" descr="image.png"/>
          <p:cNvPicPr preferRelativeResize="0">
            <a:picLocks noChangeAspect="1"/>
          </p:cNvPicPr>
          <p:nvPr>
            <p:custDataLst>
              <p:tags r:id="rId4"/>
            </p:custDataLst>
          </p:nvPr>
        </p:nvPicPr>
        <p:blipFill rotWithShape="1">
          <a:blip r:embed="rId5"/>
          <a:srcRect/>
          <a:stretch>
            <a:fillRect/>
          </a:stretch>
        </p:blipFill>
        <p:spPr>
          <a:xfrm>
            <a:off x="628650" y="2511425"/>
            <a:ext cx="277495" cy="254000"/>
          </a:xfrm>
          <a:prstGeom prst="rect">
            <a:avLst/>
          </a:prstGeom>
          <a:noFill/>
          <a:ln>
            <a:noFill/>
          </a:ln>
        </p:spPr>
      </p:pic>
      <p:sp>
        <p:nvSpPr>
          <p:cNvPr id="254" name="Google Shape;254;p23"/>
          <p:cNvSpPr txBox="1"/>
          <p:nvPr>
            <p:custDataLst>
              <p:tags r:id="rId6"/>
            </p:custDataLst>
          </p:nvPr>
        </p:nvSpPr>
        <p:spPr>
          <a:xfrm>
            <a:off x="1009650" y="2512060"/>
            <a:ext cx="3330575"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异常命令执行</a:t>
            </a: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55" name="Google Shape;255;p23"/>
          <p:cNvSpPr txBox="1"/>
          <p:nvPr>
            <p:custDataLst>
              <p:tags r:id="rId7"/>
            </p:custDataLst>
          </p:nvPr>
        </p:nvSpPr>
        <p:spPr>
          <a:xfrm>
            <a:off x="1009650" y="2803525"/>
            <a:ext cx="3330575" cy="3321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智能体非预期地启动</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bash、sh</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等</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shell</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解释器。</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 name="Google Shape;234;p22" descr="image.png"/>
          <p:cNvPicPr preferRelativeResize="0"/>
          <p:nvPr>
            <p:custDataLst>
              <p:tags r:id="rId8"/>
            </p:custDataLst>
          </p:nvPr>
        </p:nvPicPr>
        <p:blipFill rotWithShape="1">
          <a:blip r:embed="rId3"/>
          <a:srcRect/>
          <a:stretch>
            <a:fillRect/>
          </a:stretch>
        </p:blipFill>
        <p:spPr>
          <a:xfrm>
            <a:off x="5089525" y="2459990"/>
            <a:ext cx="6448425" cy="828040"/>
          </a:xfrm>
          <a:prstGeom prst="rect">
            <a:avLst/>
          </a:prstGeom>
          <a:noFill/>
          <a:ln>
            <a:noFill/>
          </a:ln>
        </p:spPr>
      </p:pic>
      <p:sp>
        <p:nvSpPr>
          <p:cNvPr id="4" name="Google Shape;254;p23"/>
          <p:cNvSpPr txBox="1"/>
          <p:nvPr>
            <p:custDataLst>
              <p:tags r:id="rId9"/>
            </p:custDataLst>
          </p:nvPr>
        </p:nvSpPr>
        <p:spPr>
          <a:xfrm>
            <a:off x="5527675" y="2512060"/>
            <a:ext cx="3463925"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敏感文件访问</a:t>
            </a: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5" name="Google Shape;255;p23"/>
          <p:cNvSpPr txBox="1"/>
          <p:nvPr>
            <p:custDataLst>
              <p:tags r:id="rId10"/>
            </p:custDataLst>
          </p:nvPr>
        </p:nvSpPr>
        <p:spPr>
          <a:xfrm>
            <a:off x="5527675" y="2803525"/>
            <a:ext cx="4011295" cy="3321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读取或删除/</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etc/passwd、/.ssh/、.env</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等高风险对象。</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Google Shape;232;p21" descr="image.png"/>
          <p:cNvPicPr preferRelativeResize="0">
            <a:picLocks noChangeAspect="1"/>
          </p:cNvPicPr>
          <p:nvPr>
            <p:custDataLst>
              <p:tags r:id="rId11"/>
            </p:custDataLst>
          </p:nvPr>
        </p:nvPicPr>
        <p:blipFill rotWithShape="1">
          <a:blip r:embed="rId12"/>
          <a:srcRect/>
          <a:stretch>
            <a:fillRect/>
          </a:stretch>
        </p:blipFill>
        <p:spPr>
          <a:xfrm>
            <a:off x="5166836" y="2511395"/>
            <a:ext cx="286029" cy="255600"/>
          </a:xfrm>
          <a:prstGeom prst="rect">
            <a:avLst/>
          </a:prstGeom>
          <a:noFill/>
          <a:ln>
            <a:noFill/>
          </a:ln>
        </p:spPr>
      </p:pic>
      <p:pic>
        <p:nvPicPr>
          <p:cNvPr id="18" name="Google Shape;234;p22" descr="image.png"/>
          <p:cNvPicPr preferRelativeResize="0"/>
          <p:nvPr>
            <p:custDataLst>
              <p:tags r:id="rId13"/>
            </p:custDataLst>
          </p:nvPr>
        </p:nvPicPr>
        <p:blipFill rotWithShape="1">
          <a:blip r:embed="rId3"/>
          <a:srcRect/>
          <a:stretch>
            <a:fillRect/>
          </a:stretch>
        </p:blipFill>
        <p:spPr>
          <a:xfrm>
            <a:off x="571500" y="3727450"/>
            <a:ext cx="4034790" cy="828040"/>
          </a:xfrm>
          <a:prstGeom prst="rect">
            <a:avLst/>
          </a:prstGeom>
          <a:noFill/>
          <a:ln>
            <a:noFill/>
          </a:ln>
        </p:spPr>
      </p:pic>
      <p:sp>
        <p:nvSpPr>
          <p:cNvPr id="20" name="Google Shape;254;p23"/>
          <p:cNvSpPr txBox="1"/>
          <p:nvPr>
            <p:custDataLst>
              <p:tags r:id="rId14"/>
            </p:custDataLst>
          </p:nvPr>
        </p:nvSpPr>
        <p:spPr>
          <a:xfrm>
            <a:off x="1009650" y="3779520"/>
            <a:ext cx="3330575"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工作区边界越界</a:t>
            </a: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1" name="Google Shape;255;p23"/>
          <p:cNvSpPr txBox="1"/>
          <p:nvPr>
            <p:custDataLst>
              <p:tags r:id="rId15"/>
            </p:custDataLst>
          </p:nvPr>
        </p:nvSpPr>
        <p:spPr>
          <a:xfrm>
            <a:off x="1009650" y="4070985"/>
            <a:ext cx="3486150" cy="3321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对工作目录之外的系统路径执行删除或改写。</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Google Shape;234;p22" descr="image.png"/>
          <p:cNvPicPr preferRelativeResize="0"/>
          <p:nvPr>
            <p:custDataLst>
              <p:tags r:id="rId16"/>
            </p:custDataLst>
          </p:nvPr>
        </p:nvPicPr>
        <p:blipFill rotWithShape="1">
          <a:blip r:embed="rId3"/>
          <a:srcRect/>
          <a:stretch>
            <a:fillRect/>
          </a:stretch>
        </p:blipFill>
        <p:spPr>
          <a:xfrm>
            <a:off x="5089525" y="3727450"/>
            <a:ext cx="6449695" cy="828040"/>
          </a:xfrm>
          <a:prstGeom prst="rect">
            <a:avLst/>
          </a:prstGeom>
          <a:noFill/>
          <a:ln>
            <a:noFill/>
          </a:ln>
        </p:spPr>
      </p:pic>
      <p:sp>
        <p:nvSpPr>
          <p:cNvPr id="24" name="Google Shape;254;p23"/>
          <p:cNvSpPr txBox="1"/>
          <p:nvPr>
            <p:custDataLst>
              <p:tags r:id="rId17"/>
            </p:custDataLst>
          </p:nvPr>
        </p:nvSpPr>
        <p:spPr>
          <a:xfrm>
            <a:off x="5527675" y="3779520"/>
            <a:ext cx="3330575"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逻辑失控/空转</a:t>
            </a: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5" name="Google Shape;255;p23"/>
          <p:cNvSpPr txBox="1"/>
          <p:nvPr>
            <p:custDataLst>
              <p:tags r:id="rId18"/>
            </p:custDataLst>
          </p:nvPr>
        </p:nvSpPr>
        <p:spPr>
          <a:xfrm>
            <a:off x="5527675" y="4070985"/>
            <a:ext cx="5958840"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短时间内高频重复文件或网络操作，集中调用。表现出明显的循环调用特征。</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rtl="0">
              <a:lnSpc>
                <a:spcPct val="160000"/>
              </a:lnSpc>
              <a:spcBef>
                <a:spcPts val="0"/>
              </a:spcBef>
              <a:spcAft>
                <a:spcPts val="0"/>
              </a:spcAft>
              <a:buNone/>
            </a:pP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6" name="Google Shape;234;p22" descr="image.png"/>
          <p:cNvPicPr preferRelativeResize="0"/>
          <p:nvPr>
            <p:custDataLst>
              <p:tags r:id="rId19"/>
            </p:custDataLst>
          </p:nvPr>
        </p:nvPicPr>
        <p:blipFill rotWithShape="1">
          <a:blip r:embed="rId3"/>
          <a:srcRect/>
          <a:stretch>
            <a:fillRect/>
          </a:stretch>
        </p:blipFill>
        <p:spPr>
          <a:xfrm>
            <a:off x="571500" y="4994910"/>
            <a:ext cx="10967085" cy="828040"/>
          </a:xfrm>
          <a:prstGeom prst="rect">
            <a:avLst/>
          </a:prstGeom>
          <a:noFill/>
          <a:ln>
            <a:noFill/>
          </a:ln>
        </p:spPr>
      </p:pic>
      <p:sp>
        <p:nvSpPr>
          <p:cNvPr id="28" name="Google Shape;254;p23"/>
          <p:cNvSpPr txBox="1"/>
          <p:nvPr>
            <p:custDataLst>
              <p:tags r:id="rId20"/>
            </p:custDataLst>
          </p:nvPr>
        </p:nvSpPr>
        <p:spPr>
          <a:xfrm>
            <a:off x="1009650" y="5046980"/>
            <a:ext cx="3330575"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语义与控制异常</a:t>
            </a: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9" name="Google Shape;255;p23"/>
          <p:cNvSpPr txBox="1"/>
          <p:nvPr>
            <p:custDataLst>
              <p:tags r:id="rId21"/>
            </p:custDataLst>
          </p:nvPr>
        </p:nvSpPr>
        <p:spPr>
          <a:xfrm>
            <a:off x="1009650" y="5338445"/>
            <a:ext cx="9530080"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违反任务规范、违反角色规范、步骤重复、对话历史丢失以及未识别终止条件等由语义偏移或控制失效引发的异常行为。</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rtl="0">
              <a:lnSpc>
                <a:spcPct val="160000"/>
              </a:lnSpc>
              <a:spcBef>
                <a:spcPts val="0"/>
              </a:spcBef>
              <a:spcAft>
                <a:spcPts val="0"/>
              </a:spcAft>
              <a:buNone/>
            </a:pP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0" name="Google Shape;233;p21" descr="image.png"/>
          <p:cNvPicPr preferRelativeResize="0">
            <a:picLocks noChangeAspect="1"/>
          </p:cNvPicPr>
          <p:nvPr>
            <p:custDataLst>
              <p:tags r:id="rId22"/>
            </p:custDataLst>
          </p:nvPr>
        </p:nvPicPr>
        <p:blipFill rotWithShape="1">
          <a:blip r:embed="rId23"/>
          <a:srcRect/>
          <a:stretch>
            <a:fillRect/>
          </a:stretch>
        </p:blipFill>
        <p:spPr>
          <a:xfrm>
            <a:off x="5167153" y="3776950"/>
            <a:ext cx="322543" cy="255600"/>
          </a:xfrm>
          <a:prstGeom prst="rect">
            <a:avLst/>
          </a:prstGeom>
          <a:noFill/>
          <a:ln>
            <a:noFill/>
          </a:ln>
        </p:spPr>
      </p:pic>
      <p:pic>
        <p:nvPicPr>
          <p:cNvPr id="31" name="Google Shape;234;p21" descr="image.png"/>
          <p:cNvPicPr preferRelativeResize="0">
            <a:picLocks noChangeAspect="1"/>
          </p:cNvPicPr>
          <p:nvPr>
            <p:custDataLst>
              <p:tags r:id="rId24"/>
            </p:custDataLst>
          </p:nvPr>
        </p:nvPicPr>
        <p:blipFill rotWithShape="1">
          <a:blip r:embed="rId25"/>
          <a:srcRect/>
          <a:stretch>
            <a:fillRect/>
          </a:stretch>
        </p:blipFill>
        <p:spPr>
          <a:xfrm>
            <a:off x="628808" y="3779490"/>
            <a:ext cx="255600" cy="255600"/>
          </a:xfrm>
          <a:prstGeom prst="rect">
            <a:avLst/>
          </a:prstGeom>
          <a:noFill/>
          <a:ln>
            <a:noFill/>
          </a:ln>
        </p:spPr>
      </p:pic>
      <p:pic>
        <p:nvPicPr>
          <p:cNvPr id="32" name="图片 31" descr="大脑"/>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650240" y="5048885"/>
            <a:ext cx="255600" cy="255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232" name="Shape 232"/>
        <p:cNvGrpSpPr/>
        <p:nvPr/>
      </p:nvGrpSpPr>
      <p:grpSpPr>
        <a:xfrm>
          <a:off x="0" y="0"/>
          <a:ext cx="0" cy="0"/>
          <a:chOff x="0" y="0"/>
          <a:chExt cx="0" cy="0"/>
        </a:xfrm>
      </p:grpSpPr>
      <p:pic>
        <p:nvPicPr>
          <p:cNvPr id="233" name="Google Shape;233;p22" descr="image.png"/>
          <p:cNvPicPr preferRelativeResize="0"/>
          <p:nvPr/>
        </p:nvPicPr>
        <p:blipFill rotWithShape="1">
          <a:blip r:embed="rId1"/>
          <a:srcRect/>
          <a:stretch>
            <a:fillRect/>
          </a:stretch>
        </p:blipFill>
        <p:spPr>
          <a:xfrm>
            <a:off x="0" y="-168910"/>
            <a:ext cx="12192000" cy="6858000"/>
          </a:xfrm>
          <a:prstGeom prst="rect">
            <a:avLst/>
          </a:prstGeom>
          <a:noFill/>
          <a:ln>
            <a:noFill/>
          </a:ln>
        </p:spPr>
      </p:pic>
      <p:sp>
        <p:nvSpPr>
          <p:cNvPr id="242" name="Google Shape;242;p22"/>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2.3 实现二：Intra-Agent 单体异常检测</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43" name="Google Shape;243;p22"/>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34" name="Google Shape;234;p22" descr="image.png"/>
          <p:cNvPicPr preferRelativeResize="0"/>
          <p:nvPr/>
        </p:nvPicPr>
        <p:blipFill rotWithShape="1">
          <a:blip r:embed="rId2"/>
          <a:srcRect/>
          <a:stretch>
            <a:fillRect/>
          </a:stretch>
        </p:blipFill>
        <p:spPr>
          <a:xfrm>
            <a:off x="509270" y="2324735"/>
            <a:ext cx="10885805" cy="1339850"/>
          </a:xfrm>
          <a:prstGeom prst="rect">
            <a:avLst/>
          </a:prstGeom>
          <a:noFill/>
          <a:ln>
            <a:noFill/>
          </a:ln>
        </p:spPr>
      </p:pic>
      <p:pic>
        <p:nvPicPr>
          <p:cNvPr id="235" name="Google Shape;235;p22" descr="image.png"/>
          <p:cNvPicPr preferRelativeResize="0"/>
          <p:nvPr/>
        </p:nvPicPr>
        <p:blipFill rotWithShape="1">
          <a:blip r:embed="rId3"/>
          <a:srcRect/>
          <a:stretch>
            <a:fillRect/>
          </a:stretch>
        </p:blipFill>
        <p:spPr>
          <a:xfrm>
            <a:off x="514350" y="3778885"/>
            <a:ext cx="10894695" cy="1240155"/>
          </a:xfrm>
          <a:prstGeom prst="rect">
            <a:avLst/>
          </a:prstGeom>
          <a:noFill/>
          <a:ln>
            <a:noFill/>
          </a:ln>
        </p:spPr>
      </p:pic>
      <p:sp>
        <p:nvSpPr>
          <p:cNvPr id="237" name="Google Shape;237;p22"/>
          <p:cNvSpPr txBox="1"/>
          <p:nvPr/>
        </p:nvSpPr>
        <p:spPr>
          <a:xfrm>
            <a:off x="899795" y="2530187"/>
            <a:ext cx="4730591"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核心结构与状态管理</a:t>
            </a:r>
            <a:endParaRPr lang="zh-CN" alt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38" name="Google Shape;238;p22"/>
          <p:cNvSpPr txBox="1"/>
          <p:nvPr/>
        </p:nvSpPr>
        <p:spPr>
          <a:xfrm>
            <a:off x="897255" y="2830195"/>
            <a:ext cx="10071100"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状态表管理</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 </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PID </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为索引维护 </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agent_stats，</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记录窗口起始、告警冷却及行为计数。</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rtl="0">
              <a:lnSpc>
                <a:spcPct val="160000"/>
              </a:lnSpc>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滑动窗口机制</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30 秒滑动窗口，支持不同规则独立冷却时间，避免日志刷屏。</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0" name="Google Shape;240;p22"/>
          <p:cNvSpPr txBox="1"/>
          <p:nvPr/>
        </p:nvSpPr>
        <p:spPr>
          <a:xfrm>
            <a:off x="904875" y="3952587"/>
            <a:ext cx="4730591"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规则检测分支</a:t>
            </a:r>
            <a:endParaRPr lang="zh-CN" alt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41" name="Google Shape;241;p22"/>
          <p:cNvSpPr txBox="1"/>
          <p:nvPr/>
        </p:nvSpPr>
        <p:spPr>
          <a:xfrm>
            <a:off x="896620" y="4269105"/>
            <a:ext cx="10076815" cy="664210"/>
          </a:xfrm>
          <a:prstGeom prst="rect">
            <a:avLst/>
          </a:prstGeom>
          <a:noFill/>
          <a:ln>
            <a:noFill/>
          </a:ln>
        </p:spPr>
        <p:txBody>
          <a:bodyPr spcFirstLastPara="1" wrap="square" lIns="0" tIns="0" rIns="0" bIns="0" anchor="t" anchorCtr="0">
            <a:spAutoFit/>
          </a:bodyPr>
          <a:lstStyle/>
          <a:p>
            <a:pPr marL="0" marR="0" lvl="0" algn="l" rtl="0">
              <a:lnSpc>
                <a:spcPct val="160000"/>
              </a:lnSpc>
              <a:spcBef>
                <a:spcPts val="0"/>
              </a:spcBef>
              <a:spcAft>
                <a:spcPts val="0"/>
              </a:spcAft>
              <a:buSzTx/>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执行与文件</a:t>
            </a:r>
            <a:r>
              <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：拦截非预期 Shell 解释器及敏感路径访问。</a:t>
            </a:r>
            <a:endPar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algn="l" rtl="0">
              <a:lnSpc>
                <a:spcPct val="160000"/>
              </a:lnSpc>
              <a:spcBef>
                <a:spcPts val="0"/>
              </a:spcBef>
              <a:spcAft>
                <a:spcPts val="0"/>
              </a:spcAft>
              <a:buSzTx/>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边界与网络</a:t>
            </a:r>
            <a:r>
              <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：监控非工作区目录改写及非常规端口外连。</a:t>
            </a:r>
            <a:endPar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Google Shape;234;p22" descr="image.png"/>
          <p:cNvPicPr preferRelativeResize="0"/>
          <p:nvPr/>
        </p:nvPicPr>
        <p:blipFill rotWithShape="1">
          <a:blip r:embed="rId2"/>
          <a:srcRect/>
          <a:stretch>
            <a:fillRect/>
          </a:stretch>
        </p:blipFill>
        <p:spPr>
          <a:xfrm>
            <a:off x="506095" y="5132705"/>
            <a:ext cx="10895330" cy="1351915"/>
          </a:xfrm>
          <a:prstGeom prst="rect">
            <a:avLst/>
          </a:prstGeom>
          <a:noFill/>
          <a:ln>
            <a:noFill/>
          </a:ln>
        </p:spPr>
      </p:pic>
      <p:sp>
        <p:nvSpPr>
          <p:cNvPr id="11" name="Google Shape;237;p22"/>
          <p:cNvSpPr txBox="1"/>
          <p:nvPr/>
        </p:nvSpPr>
        <p:spPr>
          <a:xfrm>
            <a:off x="949960" y="5312757"/>
            <a:ext cx="4730591"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统计特征驱动的逻辑循环检测</a:t>
            </a:r>
            <a:endParaRPr lang="zh-CN" alt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2" name="Google Shape;238;p22"/>
          <p:cNvSpPr txBox="1"/>
          <p:nvPr/>
        </p:nvSpPr>
        <p:spPr>
          <a:xfrm>
            <a:off x="949960" y="5707380"/>
            <a:ext cx="10012045"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统计特征聚合</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：通过对文件与网络操作计数的双重阈值判断。</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rtl="0">
              <a:lnSpc>
                <a:spcPct val="160000"/>
              </a:lnSpc>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失控识别</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：针对“高频操作+极少对象”模式，识别提示注入或规划识别失败导致的空转行为。</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Google Shape;236;p22"/>
          <p:cNvSpPr txBox="1"/>
          <p:nvPr/>
        </p:nvSpPr>
        <p:spPr>
          <a:xfrm>
            <a:off x="571500" y="1761490"/>
            <a:ext cx="10826115" cy="3321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该模块仅负责单体视角的初步筛查，利用规则和统计特征快速标记可疑行为，不承载复杂判断，后续由下游模块进一步分析处理。</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247" name="Shape 247"/>
        <p:cNvGrpSpPr/>
        <p:nvPr/>
      </p:nvGrpSpPr>
      <p:grpSpPr>
        <a:xfrm>
          <a:off x="0" y="0"/>
          <a:ext cx="0" cy="0"/>
          <a:chOff x="0" y="0"/>
          <a:chExt cx="0" cy="0"/>
        </a:xfrm>
      </p:grpSpPr>
      <p:pic>
        <p:nvPicPr>
          <p:cNvPr id="248" name="Google Shape;248;p2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49" name="Google Shape;249;p23" descr="image.png"/>
          <p:cNvPicPr preferRelativeResize="0"/>
          <p:nvPr/>
        </p:nvPicPr>
        <p:blipFill rotWithShape="1">
          <a:blip r:embed="rId2"/>
          <a:srcRect/>
          <a:stretch>
            <a:fillRect/>
          </a:stretch>
        </p:blipFill>
        <p:spPr>
          <a:xfrm>
            <a:off x="571500" y="3069877"/>
            <a:ext cx="5286375" cy="2097285"/>
          </a:xfrm>
          <a:prstGeom prst="rect">
            <a:avLst/>
          </a:prstGeom>
          <a:noFill/>
          <a:ln>
            <a:noFill/>
          </a:ln>
        </p:spPr>
      </p:pic>
      <p:sp>
        <p:nvSpPr>
          <p:cNvPr id="250" name="Google Shape;250;p23"/>
          <p:cNvSpPr txBox="1"/>
          <p:nvPr/>
        </p:nvSpPr>
        <p:spPr>
          <a:xfrm>
            <a:off x="762000" y="571500"/>
            <a:ext cx="7750175"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2.3 </a:t>
            </a:r>
            <a:r>
              <a:rPr lang="en-US" sz="2850" b="1">
                <a:solidFill>
                  <a:srgbClr val="003366"/>
                </a:solidFill>
                <a:sym typeface="Arial" panose="020B0604020202020204"/>
              </a:rPr>
              <a:t>实现二：Intra-Agent 单体</a:t>
            </a: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审计与复核机制</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51" name="Google Shape;251;p23"/>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3" name="Google Shape;253;p23"/>
          <p:cNvSpPr txBox="1"/>
          <p:nvPr/>
        </p:nvSpPr>
        <p:spPr>
          <a:xfrm>
            <a:off x="571500" y="2462212"/>
            <a:ext cx="3619797" cy="3321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构建“规则快筛 + LLM”的分级漏斗架构。</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4" name="Google Shape;254;p23"/>
          <p:cNvSpPr txBox="1"/>
          <p:nvPr/>
        </p:nvSpPr>
        <p:spPr>
          <a:xfrm>
            <a:off x="866775" y="3308002"/>
            <a:ext cx="499062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灰名单与 LLM 协同</a:t>
            </a:r>
            <a:endPar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55" name="Google Shape;255;p23"/>
          <p:cNvSpPr txBox="1"/>
          <p:nvPr/>
        </p:nvSpPr>
        <p:spPr>
          <a:xfrm>
            <a:off x="866775" y="3689002"/>
            <a:ext cx="4752975"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本地黑白名单规则负责 O(1) 拦截与放行。对于“逻辑循环”、“任务偏离”等复杂场景触发灰名单，由 LLM 结合上下文理解真实业务意图作最终裁决，极大降低了纯模型判定的高延迟与误报。</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5" name="图片 14"/>
          <p:cNvPicPr>
            <a:picLocks noChangeAspect="1"/>
          </p:cNvPicPr>
          <p:nvPr/>
        </p:nvPicPr>
        <p:blipFill>
          <a:blip r:embed="rId3"/>
          <a:stretch>
            <a:fillRect/>
          </a:stretch>
        </p:blipFill>
        <p:spPr>
          <a:xfrm>
            <a:off x="5982335" y="2387600"/>
            <a:ext cx="5807075" cy="28727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259" name="Shape 259"/>
        <p:cNvGrpSpPr/>
        <p:nvPr/>
      </p:nvGrpSpPr>
      <p:grpSpPr>
        <a:xfrm>
          <a:off x="0" y="0"/>
          <a:ext cx="0" cy="0"/>
          <a:chOff x="0" y="0"/>
          <a:chExt cx="0" cy="0"/>
        </a:xfrm>
      </p:grpSpPr>
      <p:pic>
        <p:nvPicPr>
          <p:cNvPr id="260" name="Google Shape;260;p2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67" name="Google Shape;267;p24"/>
          <p:cNvSpPr txBox="1"/>
          <p:nvPr/>
        </p:nvSpPr>
        <p:spPr>
          <a:xfrm>
            <a:off x="762000" y="571500"/>
            <a:ext cx="11401425"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2.4 实现三：Inter-Agent 协作异常检测</a:t>
            </a:r>
            <a:r>
              <a:rPr lang="zh-CN" altLang="en-US" sz="28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框架</a:t>
            </a:r>
            <a:endParaRPr lang="zh-CN" altLang="en-US" sz="28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endParaRPr>
          </a:p>
        </p:txBody>
      </p:sp>
      <p:sp>
        <p:nvSpPr>
          <p:cNvPr id="268" name="Google Shape;268;p24"/>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91" name="Google Shape;91;p13" descr="image.png"/>
          <p:cNvPicPr preferRelativeResize="0"/>
          <p:nvPr>
            <p:custDataLst>
              <p:tags r:id="rId2"/>
            </p:custDataLst>
          </p:nvPr>
        </p:nvPicPr>
        <p:blipFill rotWithShape="1">
          <a:blip r:embed="rId3"/>
          <a:srcRect/>
          <a:stretch>
            <a:fillRect/>
          </a:stretch>
        </p:blipFill>
        <p:spPr>
          <a:xfrm>
            <a:off x="4517975" y="5350510"/>
            <a:ext cx="2383035" cy="295275"/>
          </a:xfrm>
          <a:prstGeom prst="rect">
            <a:avLst/>
          </a:prstGeom>
          <a:noFill/>
          <a:ln>
            <a:noFill/>
          </a:ln>
        </p:spPr>
      </p:pic>
      <p:pic>
        <p:nvPicPr>
          <p:cNvPr id="197" name="Google Shape;197;p20" descr="image.png"/>
          <p:cNvPicPr preferRelativeResize="0"/>
          <p:nvPr>
            <p:custDataLst>
              <p:tags r:id="rId4"/>
            </p:custDataLst>
          </p:nvPr>
        </p:nvPicPr>
        <p:blipFill rotWithShape="1">
          <a:blip r:embed="rId5"/>
          <a:srcRect/>
          <a:stretch>
            <a:fillRect/>
          </a:stretch>
        </p:blipFill>
        <p:spPr>
          <a:xfrm>
            <a:off x="574040" y="1736090"/>
            <a:ext cx="3553460" cy="2313940"/>
          </a:xfrm>
          <a:prstGeom prst="rect">
            <a:avLst/>
          </a:prstGeom>
          <a:noFill/>
          <a:ln>
            <a:noFill/>
          </a:ln>
        </p:spPr>
      </p:pic>
      <p:sp>
        <p:nvSpPr>
          <p:cNvPr id="95" name="Google Shape;95;p13"/>
          <p:cNvSpPr txBox="1"/>
          <p:nvPr/>
        </p:nvSpPr>
        <p:spPr>
          <a:xfrm>
            <a:off x="771525" y="1985963"/>
            <a:ext cx="2813000" cy="2997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zh-CN" altLang="en-US" sz="1950" b="1" i="0" u="none" strike="noStrike" cap="none">
                <a:solidFill>
                  <a:srgbClr val="003366"/>
                </a:solidFill>
                <a:sym typeface="Poppins SemiBold" panose="00000500000000000000"/>
              </a:rPr>
              <a:t>语义规则检查器</a:t>
            </a:r>
            <a:endParaRPr lang="zh-CN" altLang="en-US" sz="1950" b="1" i="0" u="none" strike="noStrike" cap="none">
              <a:solidFill>
                <a:srgbClr val="003366"/>
              </a:solidFill>
              <a:sym typeface="Poppins SemiBold" panose="00000500000000000000"/>
            </a:endParaRPr>
          </a:p>
        </p:txBody>
      </p:sp>
      <p:pic>
        <p:nvPicPr>
          <p:cNvPr id="4" name="Google Shape;197;p20" descr="image.png"/>
          <p:cNvPicPr preferRelativeResize="0"/>
          <p:nvPr>
            <p:custDataLst>
              <p:tags r:id="rId6"/>
            </p:custDataLst>
          </p:nvPr>
        </p:nvPicPr>
        <p:blipFill rotWithShape="1">
          <a:blip r:embed="rId5"/>
          <a:srcRect/>
          <a:stretch>
            <a:fillRect/>
          </a:stretch>
        </p:blipFill>
        <p:spPr>
          <a:xfrm>
            <a:off x="4319270" y="1736090"/>
            <a:ext cx="3553460" cy="2313940"/>
          </a:xfrm>
          <a:prstGeom prst="rect">
            <a:avLst/>
          </a:prstGeom>
          <a:noFill/>
          <a:ln>
            <a:noFill/>
          </a:ln>
        </p:spPr>
      </p:pic>
      <p:sp>
        <p:nvSpPr>
          <p:cNvPr id="96" name="Google Shape;96;p13"/>
          <p:cNvSpPr txBox="1"/>
          <p:nvPr/>
        </p:nvSpPr>
        <p:spPr>
          <a:xfrm>
            <a:off x="771525" y="2369185"/>
            <a:ext cx="3155900" cy="1328420"/>
          </a:xfrm>
          <a:prstGeom prst="rect">
            <a:avLst/>
          </a:prstGeom>
          <a:noFill/>
          <a:ln>
            <a:noFill/>
          </a:ln>
        </p:spPr>
        <p:txBody>
          <a:bodyPr spcFirstLastPara="1" wrap="square" lIns="0" tIns="0" rIns="0" bIns="0" anchor="t" anchorCtr="0">
            <a:spAutoFit/>
          </a:bodyPr>
          <a:lstStyle/>
          <a:p>
            <a:pPr marL="0" marR="0" lvl="0" algn="l" rtl="0">
              <a:lnSpc>
                <a:spcPct val="160000"/>
              </a:lnSpc>
              <a:spcBef>
                <a:spcPts val="0"/>
              </a:spcBef>
              <a:spcAft>
                <a:spcPts val="0"/>
              </a:spcAft>
              <a:buSzTx/>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维护包含</a:t>
            </a:r>
            <a:r>
              <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15条核心规则</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的注册表。针对异常类型（如过时状态、任务偏离等）逐一核查，计算单体在全局拓扑下的风险基准分数。</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p:txBody>
      </p:sp>
      <p:sp>
        <p:nvSpPr>
          <p:cNvPr id="97" name="Google Shape;97;p13"/>
          <p:cNvSpPr txBox="1"/>
          <p:nvPr>
            <p:custDataLst>
              <p:tags r:id="rId7"/>
            </p:custDataLst>
          </p:nvPr>
        </p:nvSpPr>
        <p:spPr>
          <a:xfrm>
            <a:off x="4517975" y="1985963"/>
            <a:ext cx="2813000" cy="299720"/>
          </a:xfrm>
          <a:prstGeom prst="rect">
            <a:avLst/>
          </a:prstGeom>
          <a:noFill/>
          <a:ln>
            <a:noFill/>
          </a:ln>
        </p:spPr>
        <p:txBody>
          <a:bodyPr spcFirstLastPara="1" wrap="square" lIns="0" tIns="0" rIns="0" bIns="0" anchor="ctr" anchorCtr="0">
            <a:spAutoFit/>
          </a:bodyPr>
          <a:lstStyle/>
          <a:p>
            <a:pPr marL="0" marR="0" lvl="0" algn="l" rtl="0">
              <a:spcBef>
                <a:spcPts val="0"/>
              </a:spcBef>
              <a:spcAft>
                <a:spcPts val="0"/>
              </a:spcAft>
              <a:buSzTx/>
              <a:buNone/>
            </a:pPr>
            <a:r>
              <a:rPr lang="zh-CN" altLang="en-US" sz="1950" b="1" i="0" u="none" strike="noStrike" cap="none">
                <a:solidFill>
                  <a:srgbClr val="003366"/>
                </a:solidFill>
                <a:sym typeface="Poppins SemiBold" panose="00000500000000000000"/>
              </a:rPr>
              <a:t>消息异常检测器</a:t>
            </a:r>
            <a:endParaRPr lang="zh-CN" altLang="en-US" sz="1950" b="1" i="0" u="none" strike="noStrike" cap="none">
              <a:solidFill>
                <a:srgbClr val="003366"/>
              </a:solidFill>
              <a:sym typeface="Poppins SemiBold" panose="00000500000000000000"/>
            </a:endParaRPr>
          </a:p>
        </p:txBody>
      </p:sp>
      <p:sp>
        <p:nvSpPr>
          <p:cNvPr id="98" name="Google Shape;98;p13"/>
          <p:cNvSpPr txBox="1"/>
          <p:nvPr>
            <p:custDataLst>
              <p:tags r:id="rId8"/>
            </p:custDataLst>
          </p:nvPr>
        </p:nvSpPr>
        <p:spPr>
          <a:xfrm>
            <a:off x="4517975" y="2369185"/>
            <a:ext cx="3155900" cy="996315"/>
          </a:xfrm>
          <a:prstGeom prst="rect">
            <a:avLst/>
          </a:prstGeom>
          <a:noFill/>
          <a:ln>
            <a:noFill/>
          </a:ln>
        </p:spPr>
        <p:txBody>
          <a:bodyPr spcFirstLastPara="1" wrap="square" lIns="0" tIns="0" rIns="0" bIns="0" anchor="t" anchorCtr="0">
            <a:spAutoFit/>
          </a:bodyPr>
          <a:lstStyle/>
          <a:p>
            <a:pPr marL="0" marR="0" lvl="0" algn="l" rtl="0">
              <a:lnSpc>
                <a:spcPct val="160000"/>
              </a:lnSpc>
              <a:spcBef>
                <a:spcPts val="0"/>
              </a:spcBef>
              <a:spcAft>
                <a:spcPts val="0"/>
              </a:spcAft>
              <a:buSzTx/>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基于消息流触发。统计频率激增、级联风暴、数据量异常，并桥接 </a:t>
            </a:r>
            <a:r>
              <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Intra-Agent</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 的逻辑循环与非预期 Shell 告警。</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p:txBody>
      </p:sp>
      <p:pic>
        <p:nvPicPr>
          <p:cNvPr id="5" name="Google Shape;197;p20" descr="image.png"/>
          <p:cNvPicPr preferRelativeResize="0"/>
          <p:nvPr>
            <p:custDataLst>
              <p:tags r:id="rId9"/>
            </p:custDataLst>
          </p:nvPr>
        </p:nvPicPr>
        <p:blipFill rotWithShape="1">
          <a:blip r:embed="rId5"/>
          <a:srcRect/>
          <a:stretch>
            <a:fillRect/>
          </a:stretch>
        </p:blipFill>
        <p:spPr>
          <a:xfrm>
            <a:off x="8064500" y="1736090"/>
            <a:ext cx="3553460" cy="2313940"/>
          </a:xfrm>
          <a:prstGeom prst="rect">
            <a:avLst/>
          </a:prstGeom>
          <a:noFill/>
          <a:ln>
            <a:noFill/>
          </a:ln>
        </p:spPr>
      </p:pic>
      <p:sp>
        <p:nvSpPr>
          <p:cNvPr id="99" name="Google Shape;99;p13"/>
          <p:cNvSpPr txBox="1"/>
          <p:nvPr>
            <p:custDataLst>
              <p:tags r:id="rId10"/>
            </p:custDataLst>
          </p:nvPr>
        </p:nvSpPr>
        <p:spPr>
          <a:xfrm>
            <a:off x="8264425" y="1985963"/>
            <a:ext cx="2813149" cy="2997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zh-CN" altLang="en-US" sz="1950" b="1" i="0" u="none" strike="noStrike" cap="none">
                <a:solidFill>
                  <a:srgbClr val="003366"/>
                </a:solidFill>
                <a:sym typeface="Poppins SemiBold" panose="00000500000000000000"/>
              </a:rPr>
              <a:t>传播路径分析器</a:t>
            </a:r>
            <a:endParaRPr lang="en-US" sz="1425" b="0" i="0" u="none" strike="noStrike" cap="none">
              <a:solidFill>
                <a:srgbClr val="1E40AF"/>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00" name="Google Shape;100;p13"/>
          <p:cNvSpPr txBox="1"/>
          <p:nvPr>
            <p:custDataLst>
              <p:tags r:id="rId11"/>
            </p:custDataLst>
          </p:nvPr>
        </p:nvSpPr>
        <p:spPr>
          <a:xfrm>
            <a:off x="8264425" y="2369185"/>
            <a:ext cx="3156049" cy="996315"/>
          </a:xfrm>
          <a:prstGeom prst="rect">
            <a:avLst/>
          </a:prstGeom>
          <a:noFill/>
          <a:ln>
            <a:noFill/>
          </a:ln>
        </p:spPr>
        <p:txBody>
          <a:bodyPr spcFirstLastPara="1" wrap="square" lIns="0" tIns="0" rIns="0" bIns="0" anchor="t" anchorCtr="0">
            <a:spAutoFit/>
          </a:bodyPr>
          <a:lstStyle/>
          <a:p>
            <a:pPr marL="0" marR="0" lvl="0" algn="l" rtl="0">
              <a:lnSpc>
                <a:spcPct val="160000"/>
              </a:lnSpc>
              <a:spcBef>
                <a:spcPts val="0"/>
              </a:spcBef>
              <a:spcAft>
                <a:spcPts val="0"/>
              </a:spcAft>
              <a:buSzTx/>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采用 </a:t>
            </a:r>
            <a:r>
              <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BFS 广度优先搜索</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。以异常节点为起点沿交互图检索，精准识别级联传播路径，划定受影响范围，实现追根溯源。</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p:txBody>
      </p:sp>
      <p:pic>
        <p:nvPicPr>
          <p:cNvPr id="6" name="Google Shape;197;p20" descr="image.png"/>
          <p:cNvPicPr preferRelativeResize="0"/>
          <p:nvPr>
            <p:custDataLst>
              <p:tags r:id="rId12"/>
            </p:custDataLst>
          </p:nvPr>
        </p:nvPicPr>
        <p:blipFill rotWithShape="1">
          <a:blip r:embed="rId5"/>
          <a:srcRect/>
          <a:stretch>
            <a:fillRect/>
          </a:stretch>
        </p:blipFill>
        <p:spPr>
          <a:xfrm>
            <a:off x="574040" y="4264660"/>
            <a:ext cx="3553460" cy="2313940"/>
          </a:xfrm>
          <a:prstGeom prst="rect">
            <a:avLst/>
          </a:prstGeom>
          <a:noFill/>
          <a:ln>
            <a:noFill/>
          </a:ln>
        </p:spPr>
      </p:pic>
      <p:sp>
        <p:nvSpPr>
          <p:cNvPr id="101" name="Google Shape;101;p13"/>
          <p:cNvSpPr txBox="1"/>
          <p:nvPr/>
        </p:nvSpPr>
        <p:spPr>
          <a:xfrm>
            <a:off x="771525" y="4491038"/>
            <a:ext cx="2813000" cy="2997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zh-CN" altLang="en-US" sz="1950" b="1" i="0" u="none" strike="noStrike" cap="none">
                <a:solidFill>
                  <a:srgbClr val="003366"/>
                </a:solidFill>
                <a:sym typeface="Poppins SemiBold" panose="00000500000000000000"/>
              </a:rPr>
              <a:t>时间异常检测器</a:t>
            </a:r>
            <a:endParaRPr lang="en-US" sz="1425" b="0" i="0" u="none" strike="noStrike" cap="none">
              <a:solidFill>
                <a:srgbClr val="1E40AF"/>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7" name="Google Shape;197;p20" descr="image.png"/>
          <p:cNvPicPr preferRelativeResize="0"/>
          <p:nvPr>
            <p:custDataLst>
              <p:tags r:id="rId13"/>
            </p:custDataLst>
          </p:nvPr>
        </p:nvPicPr>
        <p:blipFill rotWithShape="1">
          <a:blip r:embed="rId5"/>
          <a:srcRect/>
          <a:stretch>
            <a:fillRect/>
          </a:stretch>
        </p:blipFill>
        <p:spPr>
          <a:xfrm>
            <a:off x="4319270" y="4265930"/>
            <a:ext cx="3553460" cy="2313940"/>
          </a:xfrm>
          <a:prstGeom prst="rect">
            <a:avLst/>
          </a:prstGeom>
          <a:noFill/>
          <a:ln>
            <a:noFill/>
          </a:ln>
        </p:spPr>
      </p:pic>
      <p:sp>
        <p:nvSpPr>
          <p:cNvPr id="102" name="Google Shape;102;p13"/>
          <p:cNvSpPr txBox="1"/>
          <p:nvPr/>
        </p:nvSpPr>
        <p:spPr>
          <a:xfrm>
            <a:off x="771525" y="4874260"/>
            <a:ext cx="3155900" cy="1246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提取 CPU、Memory、API 及消息数 4 维特征。通过 </a:t>
            </a:r>
            <a:r>
              <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Z-Score</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 统计显著偏离度，作为风险分数提升器，标记近期行为波动显著的 Agent。</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p:txBody>
      </p:sp>
      <p:pic>
        <p:nvPicPr>
          <p:cNvPr id="8" name="Google Shape;197;p20" descr="image.png"/>
          <p:cNvPicPr preferRelativeResize="0"/>
          <p:nvPr>
            <p:custDataLst>
              <p:tags r:id="rId14"/>
            </p:custDataLst>
          </p:nvPr>
        </p:nvPicPr>
        <p:blipFill rotWithShape="1">
          <a:blip r:embed="rId5"/>
          <a:srcRect/>
          <a:stretch>
            <a:fillRect/>
          </a:stretch>
        </p:blipFill>
        <p:spPr>
          <a:xfrm>
            <a:off x="8064500" y="4264660"/>
            <a:ext cx="3553460" cy="2313940"/>
          </a:xfrm>
          <a:prstGeom prst="rect">
            <a:avLst/>
          </a:prstGeom>
          <a:noFill/>
          <a:ln>
            <a:noFill/>
          </a:ln>
        </p:spPr>
      </p:pic>
      <p:sp>
        <p:nvSpPr>
          <p:cNvPr id="103" name="Google Shape;103;p13"/>
          <p:cNvSpPr txBox="1"/>
          <p:nvPr>
            <p:custDataLst>
              <p:tags r:id="rId15"/>
            </p:custDataLst>
          </p:nvPr>
        </p:nvSpPr>
        <p:spPr>
          <a:xfrm>
            <a:off x="4518025" y="4491038"/>
            <a:ext cx="3524250" cy="2997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zh-CN" altLang="en-US" sz="1950" b="1" i="0" u="none" strike="noStrike" cap="none">
                <a:solidFill>
                  <a:srgbClr val="003366"/>
                </a:solidFill>
                <a:sym typeface="Poppins SemiBold" panose="00000500000000000000"/>
              </a:rPr>
              <a:t>GNN检测器</a:t>
            </a:r>
            <a:endParaRPr lang="zh-CN" altLang="en-US" sz="1950" b="1" i="0" u="none" strike="noStrike" cap="none">
              <a:solidFill>
                <a:srgbClr val="003366"/>
              </a:solidFill>
              <a:sym typeface="Poppins SemiBold" panose="00000500000000000000"/>
            </a:endParaRPr>
          </a:p>
        </p:txBody>
      </p:sp>
      <p:sp>
        <p:nvSpPr>
          <p:cNvPr id="104" name="Google Shape;104;p13"/>
          <p:cNvSpPr txBox="1"/>
          <p:nvPr>
            <p:custDataLst>
              <p:tags r:id="rId16"/>
            </p:custDataLst>
          </p:nvPr>
        </p:nvSpPr>
        <p:spPr>
          <a:xfrm>
            <a:off x="8264525" y="4495483"/>
            <a:ext cx="3345815" cy="2997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zh-CN" altLang="en-US" sz="1950" b="1" i="0" u="none" strike="noStrike" cap="none">
                <a:solidFill>
                  <a:srgbClr val="003366"/>
                </a:solidFill>
                <a:sym typeface="Poppins SemiBold" panose="00000500000000000000"/>
              </a:rPr>
              <a:t>协调器</a:t>
            </a:r>
            <a:endParaRPr lang="en-US" altLang="zh-CN" sz="1425" b="0" i="0" u="none" strike="noStrike" cap="none">
              <a:solidFill>
                <a:srgbClr val="1E40AF"/>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05" name="Google Shape;105;p13"/>
          <p:cNvSpPr txBox="1"/>
          <p:nvPr>
            <p:custDataLst>
              <p:tags r:id="rId17"/>
            </p:custDataLst>
          </p:nvPr>
        </p:nvSpPr>
        <p:spPr>
          <a:xfrm>
            <a:off x="8264425" y="4874260"/>
            <a:ext cx="3156049" cy="1169035"/>
          </a:xfrm>
          <a:prstGeom prst="rect">
            <a:avLst/>
          </a:prstGeom>
          <a:noFill/>
          <a:ln>
            <a:noFill/>
          </a:ln>
        </p:spPr>
        <p:txBody>
          <a:bodyPr spcFirstLastPara="1" wrap="square" lIns="0" tIns="0" rIns="0" bIns="0" anchor="t" anchorCtr="0">
            <a:spAutoFit/>
          </a:bodyPr>
          <a:lstStyle/>
          <a:p>
            <a:pPr marL="0" marR="0" lvl="0" indent="0" algn="l" rtl="0">
              <a:lnSpc>
                <a:spcPct val="94000"/>
              </a:lnSpc>
              <a:spcBef>
                <a:spcPts val="0"/>
              </a:spcBef>
              <a:spcAft>
                <a:spcPts val="0"/>
              </a:spcAft>
              <a:buNone/>
            </a:pPr>
            <a:r>
              <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加权风险融合：</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 线性组合各检测器分数：</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a:p>
            <a:pPr marL="0" marR="0" lvl="0" indent="0" algn="l" rtl="0">
              <a:lnSpc>
                <a:spcPct val="94000"/>
              </a:lnSpc>
              <a:spcBef>
                <a:spcPts val="0"/>
              </a:spcBef>
              <a:spcAft>
                <a:spcPts val="0"/>
              </a:spcAft>
              <a:buNone/>
            </a:pP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a:p>
            <a:pPr marL="0" marR="0" lvl="0" indent="0" algn="l" rtl="0">
              <a:lnSpc>
                <a:spcPct val="94000"/>
              </a:lnSpc>
              <a:spcBef>
                <a:spcPts val="0"/>
              </a:spcBef>
              <a:spcAft>
                <a:spcPts val="0"/>
              </a:spcAft>
              <a:buNone/>
            </a:pP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a:p>
            <a:pPr marL="0" marR="0" lvl="0" indent="0" algn="l" rtl="0">
              <a:lnSpc>
                <a:spcPct val="94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  </a:t>
            </a:r>
            <a:b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Calibri" panose="020F0502020204030204"/>
              </a:rPr>
            </a:b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最终输出多维决策响应级别，实现全局异常管控。</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p:txBody>
      </p:sp>
      <p:pic>
        <p:nvPicPr>
          <p:cNvPr id="112" name="Google Shape;112;p13" descr="image.png"/>
          <p:cNvPicPr preferRelativeResize="0"/>
          <p:nvPr>
            <p:custDataLst>
              <p:tags r:id="rId18"/>
            </p:custDataLst>
          </p:nvPr>
        </p:nvPicPr>
        <p:blipFill rotWithShape="1">
          <a:blip r:embed="rId19"/>
          <a:srcRect/>
          <a:stretch>
            <a:fillRect/>
          </a:stretch>
        </p:blipFill>
        <p:spPr>
          <a:xfrm>
            <a:off x="8264425" y="5169852"/>
            <a:ext cx="657225" cy="180975"/>
          </a:xfrm>
          <a:prstGeom prst="rect">
            <a:avLst/>
          </a:prstGeom>
          <a:noFill/>
          <a:ln>
            <a:noFill/>
          </a:ln>
        </p:spPr>
      </p:pic>
      <p:pic>
        <p:nvPicPr>
          <p:cNvPr id="113" name="Google Shape;113;p13" descr="image.png"/>
          <p:cNvPicPr preferRelativeResize="0"/>
          <p:nvPr>
            <p:custDataLst>
              <p:tags r:id="rId20"/>
            </p:custDataLst>
          </p:nvPr>
        </p:nvPicPr>
        <p:blipFill rotWithShape="1">
          <a:blip r:embed="rId21"/>
          <a:srcRect/>
          <a:stretch>
            <a:fillRect/>
          </a:stretch>
        </p:blipFill>
        <p:spPr>
          <a:xfrm>
            <a:off x="8950225" y="5169852"/>
            <a:ext cx="685800" cy="180975"/>
          </a:xfrm>
          <a:prstGeom prst="rect">
            <a:avLst/>
          </a:prstGeom>
          <a:noFill/>
          <a:ln>
            <a:noFill/>
          </a:ln>
        </p:spPr>
      </p:pic>
      <p:pic>
        <p:nvPicPr>
          <p:cNvPr id="114" name="Google Shape;114;p13" descr="image.png"/>
          <p:cNvPicPr preferRelativeResize="0"/>
          <p:nvPr>
            <p:custDataLst>
              <p:tags r:id="rId22"/>
            </p:custDataLst>
          </p:nvPr>
        </p:nvPicPr>
        <p:blipFill rotWithShape="1">
          <a:blip r:embed="rId23"/>
          <a:srcRect/>
          <a:stretch>
            <a:fillRect/>
          </a:stretch>
        </p:blipFill>
        <p:spPr>
          <a:xfrm>
            <a:off x="8264425" y="5384165"/>
            <a:ext cx="904875" cy="180975"/>
          </a:xfrm>
          <a:prstGeom prst="rect">
            <a:avLst/>
          </a:prstGeom>
          <a:noFill/>
          <a:ln>
            <a:noFill/>
          </a:ln>
        </p:spPr>
      </p:pic>
      <p:pic>
        <p:nvPicPr>
          <p:cNvPr id="115" name="Google Shape;115;p13" descr="image.png"/>
          <p:cNvPicPr preferRelativeResize="0"/>
          <p:nvPr>
            <p:custDataLst>
              <p:tags r:id="rId24"/>
            </p:custDataLst>
          </p:nvPr>
        </p:nvPicPr>
        <p:blipFill rotWithShape="1">
          <a:blip r:embed="rId25"/>
          <a:srcRect/>
          <a:stretch>
            <a:fillRect/>
          </a:stretch>
        </p:blipFill>
        <p:spPr>
          <a:xfrm>
            <a:off x="9197875" y="5384165"/>
            <a:ext cx="895350" cy="180975"/>
          </a:xfrm>
          <a:prstGeom prst="rect">
            <a:avLst/>
          </a:prstGeom>
          <a:noFill/>
          <a:ln>
            <a:noFill/>
          </a:ln>
        </p:spPr>
      </p:pic>
      <p:pic>
        <p:nvPicPr>
          <p:cNvPr id="116" name="Google Shape;116;p13" descr="image.png"/>
          <p:cNvPicPr preferRelativeResize="0">
            <a:picLocks noChangeAspect="1"/>
          </p:cNvPicPr>
          <p:nvPr>
            <p:custDataLst>
              <p:tags r:id="rId26"/>
            </p:custDataLst>
          </p:nvPr>
        </p:nvPicPr>
        <p:blipFill rotWithShape="1">
          <a:blip r:embed="rId27"/>
          <a:srcRect/>
          <a:stretch>
            <a:fillRect/>
          </a:stretch>
        </p:blipFill>
        <p:spPr>
          <a:xfrm>
            <a:off x="4502100" y="5835015"/>
            <a:ext cx="2882249" cy="180000"/>
          </a:xfrm>
          <a:prstGeom prst="rect">
            <a:avLst/>
          </a:prstGeom>
          <a:noFill/>
          <a:ln>
            <a:noFill/>
          </a:ln>
        </p:spPr>
      </p:pic>
      <p:sp>
        <p:nvSpPr>
          <p:cNvPr id="2" name="Google Shape;102;p13"/>
          <p:cNvSpPr txBox="1"/>
          <p:nvPr>
            <p:custDataLst>
              <p:tags r:id="rId28"/>
            </p:custDataLst>
          </p:nvPr>
        </p:nvSpPr>
        <p:spPr>
          <a:xfrm>
            <a:off x="4502150" y="4779010"/>
            <a:ext cx="3155900" cy="93472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深度图异常检测模型，利用</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GCN/GAT</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rPr>
              <a:t>编码器重构结构与属性，发现无关类型的结构性异常：</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Lato" panose="020F0502020204030203"/>
            </a:endParaRPr>
          </a:p>
        </p:txBody>
      </p:sp>
      <p:sp>
        <p:nvSpPr>
          <p:cNvPr id="14" name="文本框 13"/>
          <p:cNvSpPr txBox="1"/>
          <p:nvPr/>
        </p:nvSpPr>
        <p:spPr>
          <a:xfrm>
            <a:off x="571500" y="1184910"/>
            <a:ext cx="10236200" cy="423545"/>
          </a:xfrm>
          <a:prstGeom prst="rect">
            <a:avLst/>
          </a:prstGeom>
          <a:noFill/>
        </p:spPr>
        <p:txBody>
          <a:bodyPr wrap="square" rtlCol="0" anchor="t">
            <a:spAutoFit/>
          </a:bodyPr>
          <a:p>
            <a:pPr marL="0" marR="0" lvl="0" indent="0" algn="l" rtl="0">
              <a:lnSpc>
                <a:spcPct val="160000"/>
              </a:lnSpc>
              <a:spcBef>
                <a:spcPts val="0"/>
              </a:spcBef>
              <a:spcAft>
                <a:spcPts val="0"/>
              </a:spcAft>
              <a:buNone/>
            </a:pPr>
            <a:r>
              <a:rPr lang="en-US" sz="1350">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 19 种协作异常类型的流水线（如越级通信、组分裂、单源洪泛）。通过图神经网络 DOMINANT (GNN) 学习拓扑。</a:t>
            </a:r>
            <a:endParaRPr lang="en-US" altLang="en-US" sz="1350">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247" name="Shape 247"/>
        <p:cNvGrpSpPr/>
        <p:nvPr/>
      </p:nvGrpSpPr>
      <p:grpSpPr>
        <a:xfrm>
          <a:off x="0" y="0"/>
          <a:ext cx="0" cy="0"/>
          <a:chOff x="0" y="0"/>
          <a:chExt cx="0" cy="0"/>
        </a:xfrm>
      </p:grpSpPr>
      <p:pic>
        <p:nvPicPr>
          <p:cNvPr id="248" name="Google Shape;248;p2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49" name="Google Shape;249;p23" descr="image.png"/>
          <p:cNvPicPr preferRelativeResize="0"/>
          <p:nvPr/>
        </p:nvPicPr>
        <p:blipFill rotWithShape="1">
          <a:blip r:embed="rId2"/>
          <a:srcRect/>
          <a:stretch>
            <a:fillRect/>
          </a:stretch>
        </p:blipFill>
        <p:spPr>
          <a:xfrm>
            <a:off x="571500" y="3069590"/>
            <a:ext cx="5286375" cy="3201035"/>
          </a:xfrm>
          <a:prstGeom prst="rect">
            <a:avLst/>
          </a:prstGeom>
          <a:noFill/>
          <a:ln>
            <a:noFill/>
          </a:ln>
        </p:spPr>
      </p:pic>
      <p:sp>
        <p:nvSpPr>
          <p:cNvPr id="250" name="Google Shape;250;p23"/>
          <p:cNvSpPr txBox="1"/>
          <p:nvPr/>
        </p:nvSpPr>
        <p:spPr>
          <a:xfrm>
            <a:off x="762000" y="571500"/>
            <a:ext cx="7750175"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2.4 </a:t>
            </a:r>
            <a:r>
              <a:rPr lang="en-US" sz="2850" b="1">
                <a:solidFill>
                  <a:srgbClr val="003366"/>
                </a:solidFill>
                <a:sym typeface="Arial" panose="020B0604020202020204"/>
              </a:rPr>
              <a:t>实现</a:t>
            </a:r>
            <a:r>
              <a:rPr lang="zh-CN" altLang="en-US" sz="2850" b="1">
                <a:solidFill>
                  <a:srgbClr val="003366"/>
                </a:solidFill>
                <a:ea typeface="宋体" panose="02010600030101010101" pitchFamily="2" charset="-122"/>
                <a:sym typeface="Arial" panose="020B0604020202020204"/>
              </a:rPr>
              <a:t>三</a:t>
            </a:r>
            <a:r>
              <a:rPr lang="en-US" sz="2850" b="1">
                <a:solidFill>
                  <a:srgbClr val="003366"/>
                </a:solidFill>
                <a:sym typeface="Arial" panose="020B0604020202020204"/>
              </a:rPr>
              <a:t>：</a:t>
            </a:r>
            <a:r>
              <a:rPr lang="en-US" sz="2850" b="1">
                <a:solidFill>
                  <a:srgbClr val="003366"/>
                </a:solidFill>
                <a:sym typeface="Arial" panose="020B0604020202020204"/>
              </a:rPr>
              <a:t>Inter-Agent 协作异常检测</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51" name="Google Shape;251;p23"/>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3" name="Google Shape;253;p23"/>
          <p:cNvSpPr txBox="1"/>
          <p:nvPr/>
        </p:nvSpPr>
        <p:spPr>
          <a:xfrm>
            <a:off x="628650" y="2210435"/>
            <a:ext cx="4403725"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a:t>
            </a:r>
            <a:r>
              <a:rPr lang="zh-CN" altLang="en-US" sz="1350">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“节点</a:t>
            </a:r>
            <a:r>
              <a:rPr lang="en-US" altLang="zh-CN" sz="1350">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50">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边、视图”三级结构，6个协同工作的检测子模块判别</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4" name="Google Shape;254;p23"/>
          <p:cNvSpPr txBox="1"/>
          <p:nvPr/>
        </p:nvSpPr>
        <p:spPr>
          <a:xfrm>
            <a:off x="866775" y="3308002"/>
            <a:ext cx="4990623"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分级分模块协同判别结构</a:t>
            </a:r>
            <a:endParaRPr lang="zh-CN" altLang="en-US" sz="16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endParaRPr>
          </a:p>
        </p:txBody>
      </p:sp>
      <p:sp>
        <p:nvSpPr>
          <p:cNvPr id="255" name="Google Shape;255;p23"/>
          <p:cNvSpPr txBox="1"/>
          <p:nvPr/>
        </p:nvSpPr>
        <p:spPr>
          <a:xfrm>
            <a:off x="866775" y="3741072"/>
            <a:ext cx="4752975" cy="232473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本模块以“节点（</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边（通信链路）、视图（全局）”三级结构组织检测逻辑，通过6个协同工作的检测子模块对19种预定义异常类型进行综合判别。</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各子模块分别从语义一致性、消息通信模式、传播路径、时序行为、图结构重构等多个维度独立计算风险分数，最终由协调器进行加权融合，为每个</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输出组合风险分数和告警，实现对分布式智能体系统的实时监控、异常告警与自动干预。</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 name="图片 0"/>
          <p:cNvPicPr/>
          <p:nvPr/>
        </p:nvPicPr>
        <p:blipFill>
          <a:blip r:embed="rId3"/>
          <a:stretch>
            <a:fillRect/>
          </a:stretch>
        </p:blipFill>
        <p:spPr>
          <a:xfrm>
            <a:off x="6096000" y="2757805"/>
            <a:ext cx="5557520" cy="35128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272" name="Shape 272"/>
        <p:cNvGrpSpPr/>
        <p:nvPr/>
      </p:nvGrpSpPr>
      <p:grpSpPr>
        <a:xfrm>
          <a:off x="0" y="0"/>
          <a:ext cx="0" cy="0"/>
          <a:chOff x="0" y="0"/>
          <a:chExt cx="0" cy="0"/>
        </a:xfrm>
      </p:grpSpPr>
      <p:pic>
        <p:nvPicPr>
          <p:cNvPr id="273" name="Google Shape;273;p2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74" name="Google Shape;274;p25" descr="image.png"/>
          <p:cNvPicPr preferRelativeResize="0"/>
          <p:nvPr>
            <p:custDataLst>
              <p:tags r:id="rId2"/>
            </p:custDataLst>
          </p:nvPr>
        </p:nvPicPr>
        <p:blipFill rotWithShape="1">
          <a:blip r:embed="rId3"/>
          <a:srcRect/>
          <a:stretch>
            <a:fillRect/>
          </a:stretch>
        </p:blipFill>
        <p:spPr>
          <a:xfrm>
            <a:off x="571500" y="2721322"/>
            <a:ext cx="3492549" cy="2651670"/>
          </a:xfrm>
          <a:prstGeom prst="rect">
            <a:avLst/>
          </a:prstGeom>
          <a:noFill/>
          <a:ln>
            <a:noFill/>
          </a:ln>
        </p:spPr>
      </p:pic>
      <p:pic>
        <p:nvPicPr>
          <p:cNvPr id="275" name="Google Shape;275;p25" descr="image.png"/>
          <p:cNvPicPr preferRelativeResize="0"/>
          <p:nvPr>
            <p:custDataLst>
              <p:tags r:id="rId4"/>
            </p:custDataLst>
          </p:nvPr>
        </p:nvPicPr>
        <p:blipFill rotWithShape="1">
          <a:blip r:embed="rId5"/>
          <a:srcRect/>
          <a:stretch>
            <a:fillRect/>
          </a:stretch>
        </p:blipFill>
        <p:spPr>
          <a:xfrm>
            <a:off x="4349799" y="2721322"/>
            <a:ext cx="3492549" cy="2651670"/>
          </a:xfrm>
          <a:prstGeom prst="rect">
            <a:avLst/>
          </a:prstGeom>
          <a:noFill/>
          <a:ln>
            <a:noFill/>
          </a:ln>
        </p:spPr>
      </p:pic>
      <p:pic>
        <p:nvPicPr>
          <p:cNvPr id="276" name="Google Shape;276;p25" descr="image.png"/>
          <p:cNvPicPr preferRelativeResize="0"/>
          <p:nvPr>
            <p:custDataLst>
              <p:tags r:id="rId6"/>
            </p:custDataLst>
          </p:nvPr>
        </p:nvPicPr>
        <p:blipFill rotWithShape="1">
          <a:blip r:embed="rId7"/>
          <a:srcRect/>
          <a:stretch>
            <a:fillRect/>
          </a:stretch>
        </p:blipFill>
        <p:spPr>
          <a:xfrm>
            <a:off x="8128099" y="2721322"/>
            <a:ext cx="3492549" cy="2651670"/>
          </a:xfrm>
          <a:prstGeom prst="rect">
            <a:avLst/>
          </a:prstGeom>
          <a:noFill/>
          <a:ln>
            <a:noFill/>
          </a:ln>
        </p:spPr>
      </p:pic>
      <p:sp>
        <p:nvSpPr>
          <p:cNvPr id="277" name="Google Shape;277;p25"/>
          <p:cNvSpPr txBox="1"/>
          <p:nvPr/>
        </p:nvSpPr>
        <p:spPr>
          <a:xfrm>
            <a:off x="571500" y="2256532"/>
            <a:ext cx="6096892"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30秒逆向查询机制</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匹配 Prompt 与 OS 事件，提供 4 段式结构的归因日志：</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8" name="Google Shape;278;p25"/>
          <p:cNvSpPr txBox="1"/>
          <p:nvPr>
            <p:custDataLst>
              <p:tags r:id="rId8"/>
            </p:custDataLst>
          </p:nvPr>
        </p:nvSpPr>
        <p:spPr>
          <a:xfrm>
            <a:off x="866775" y="3635722"/>
            <a:ext cx="3047099"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1. 触发事件序列</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79" name="Google Shape;279;p25"/>
          <p:cNvSpPr txBox="1"/>
          <p:nvPr>
            <p:custDataLst>
              <p:tags r:id="rId9"/>
            </p:custDataLst>
          </p:nvPr>
        </p:nvSpPr>
        <p:spPr>
          <a:xfrm>
            <a:off x="866775" y="4111972"/>
            <a:ext cx="2901999"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列出引发告警的具体进程系统调用（如 unlink）、操作对象和精准纳秒级时间戳。</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0" name="Google Shape;280;p25"/>
          <p:cNvSpPr txBox="1"/>
          <p:nvPr>
            <p:custDataLst>
              <p:tags r:id="rId10"/>
            </p:custDataLst>
          </p:nvPr>
        </p:nvSpPr>
        <p:spPr>
          <a:xfrm>
            <a:off x="4645074" y="3635722"/>
            <a:ext cx="3047099"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2. 语义关联上下文</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81" name="Google Shape;281;p25"/>
          <p:cNvSpPr txBox="1"/>
          <p:nvPr>
            <p:custDataLst>
              <p:tags r:id="rId11"/>
            </p:custDataLst>
          </p:nvPr>
        </p:nvSpPr>
        <p:spPr>
          <a:xfrm>
            <a:off x="4645074" y="4111972"/>
            <a:ext cx="2901999"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反向检索 Redis 消息流，提取异常发生前 30s 的最近 Prompt/Response，跨越语义鸿沟。</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2" name="Google Shape;282;p25"/>
          <p:cNvSpPr txBox="1"/>
          <p:nvPr>
            <p:custDataLst>
              <p:tags r:id="rId12"/>
            </p:custDataLst>
          </p:nvPr>
        </p:nvSpPr>
        <p:spPr>
          <a:xfrm>
            <a:off x="8423374" y="3635722"/>
            <a:ext cx="3047099"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3. 根因与审计结论</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83" name="Google Shape;283;p25"/>
          <p:cNvSpPr txBox="1"/>
          <p:nvPr>
            <p:custDataLst>
              <p:tags r:id="rId13"/>
            </p:custDataLst>
          </p:nvPr>
        </p:nvSpPr>
        <p:spPr>
          <a:xfrm>
            <a:off x="8423374" y="4111972"/>
            <a:ext cx="2901999"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LLM 复核（若超时则降级至规则引擎）给出人类可读的 Root Cause 推理，并输出处置动作。</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84" name="Google Shape;284;p25" descr="image.png"/>
          <p:cNvPicPr preferRelativeResize="0"/>
          <p:nvPr>
            <p:custDataLst>
              <p:tags r:id="rId14"/>
            </p:custDataLst>
          </p:nvPr>
        </p:nvPicPr>
        <p:blipFill rotWithShape="1">
          <a:blip r:embed="rId15"/>
          <a:srcRect/>
          <a:stretch>
            <a:fillRect/>
          </a:stretch>
        </p:blipFill>
        <p:spPr>
          <a:xfrm>
            <a:off x="866775" y="3045172"/>
            <a:ext cx="296465" cy="381000"/>
          </a:xfrm>
          <a:prstGeom prst="rect">
            <a:avLst/>
          </a:prstGeom>
          <a:noFill/>
          <a:ln>
            <a:noFill/>
          </a:ln>
        </p:spPr>
      </p:pic>
      <p:pic>
        <p:nvPicPr>
          <p:cNvPr id="285" name="Google Shape;285;p25" descr="image.png"/>
          <p:cNvPicPr preferRelativeResize="0"/>
          <p:nvPr>
            <p:custDataLst>
              <p:tags r:id="rId16"/>
            </p:custDataLst>
          </p:nvPr>
        </p:nvPicPr>
        <p:blipFill rotWithShape="1">
          <a:blip r:embed="rId17"/>
          <a:srcRect/>
          <a:stretch>
            <a:fillRect/>
          </a:stretch>
        </p:blipFill>
        <p:spPr>
          <a:xfrm>
            <a:off x="4645074" y="3045172"/>
            <a:ext cx="296465" cy="381000"/>
          </a:xfrm>
          <a:prstGeom prst="rect">
            <a:avLst/>
          </a:prstGeom>
          <a:noFill/>
          <a:ln>
            <a:noFill/>
          </a:ln>
        </p:spPr>
      </p:pic>
      <p:pic>
        <p:nvPicPr>
          <p:cNvPr id="286" name="Google Shape;286;p25" descr="image.png"/>
          <p:cNvPicPr preferRelativeResize="0"/>
          <p:nvPr>
            <p:custDataLst>
              <p:tags r:id="rId18"/>
            </p:custDataLst>
          </p:nvPr>
        </p:nvPicPr>
        <p:blipFill rotWithShape="1">
          <a:blip r:embed="rId19"/>
          <a:srcRect/>
          <a:stretch>
            <a:fillRect/>
          </a:stretch>
        </p:blipFill>
        <p:spPr>
          <a:xfrm>
            <a:off x="8423374" y="3045172"/>
            <a:ext cx="296465" cy="381000"/>
          </a:xfrm>
          <a:prstGeom prst="rect">
            <a:avLst/>
          </a:prstGeom>
          <a:noFill/>
          <a:ln>
            <a:noFill/>
          </a:ln>
        </p:spPr>
      </p:pic>
      <p:sp>
        <p:nvSpPr>
          <p:cNvPr id="287" name="Google Shape;287;p25"/>
          <p:cNvSpPr txBox="1"/>
          <p:nvPr/>
        </p:nvSpPr>
        <p:spPr>
          <a:xfrm>
            <a:off x="762000" y="571500"/>
            <a:ext cx="11401425"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2.5 实现四：告警输出与归因定位</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288" name="Google Shape;288;p25"/>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292" name="Shape 292"/>
        <p:cNvGrpSpPr/>
        <p:nvPr/>
      </p:nvGrpSpPr>
      <p:grpSpPr>
        <a:xfrm>
          <a:off x="0" y="0"/>
          <a:ext cx="0" cy="0"/>
          <a:chOff x="0" y="0"/>
          <a:chExt cx="0" cy="0"/>
        </a:xfrm>
      </p:grpSpPr>
      <p:pic>
        <p:nvPicPr>
          <p:cNvPr id="293" name="Google Shape;293;p2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94" name="Google Shape;294;p26" descr="image.png"/>
          <p:cNvPicPr preferRelativeResize="0"/>
          <p:nvPr/>
        </p:nvPicPr>
        <p:blipFill rotWithShape="1">
          <a:blip r:embed="rId2"/>
          <a:srcRect/>
          <a:stretch>
            <a:fillRect/>
          </a:stretch>
        </p:blipFill>
        <p:spPr>
          <a:xfrm>
            <a:off x="6334125" y="1462087"/>
            <a:ext cx="5286375" cy="3810000"/>
          </a:xfrm>
          <a:prstGeom prst="rect">
            <a:avLst/>
          </a:prstGeom>
          <a:noFill/>
          <a:ln>
            <a:noFill/>
          </a:ln>
        </p:spPr>
      </p:pic>
      <p:sp>
        <p:nvSpPr>
          <p:cNvPr id="295" name="Google Shape;295;p26"/>
          <p:cNvSpPr txBox="1"/>
          <p:nvPr>
            <p:custDataLst>
              <p:tags r:id="rId3"/>
            </p:custDataLst>
          </p:nvPr>
        </p:nvSpPr>
        <p:spPr>
          <a:xfrm>
            <a:off x="885825" y="1558136"/>
            <a:ext cx="67628" cy="230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6" name="Google Shape;296;p26"/>
          <p:cNvSpPr txBox="1"/>
          <p:nvPr>
            <p:custDataLst>
              <p:tags r:id="rId4"/>
            </p:custDataLst>
          </p:nvPr>
        </p:nvSpPr>
        <p:spPr>
          <a:xfrm>
            <a:off x="1111896" y="1501457"/>
            <a:ext cx="4540745" cy="919480"/>
          </a:xfrm>
          <a:prstGeom prst="rect">
            <a:avLst/>
          </a:prstGeom>
          <a:noFill/>
          <a:ln>
            <a:noFill/>
          </a:ln>
        </p:spPr>
        <p:txBody>
          <a:bodyPr spcFirstLastPara="1" wrap="square" lIns="66675" tIns="0" rIns="0" bIns="0" anchor="t" anchorCtr="0">
            <a:spAutoFit/>
          </a:bodyPr>
          <a:lstStyle/>
          <a:p>
            <a:pPr marL="0" marR="0" lvl="0" indent="0" algn="l" rtl="0">
              <a:lnSpc>
                <a:spcPct val="133000"/>
              </a:lnSpc>
              <a:spcBef>
                <a:spcPts val="0"/>
              </a:spcBef>
              <a:spcAft>
                <a:spcPts val="0"/>
              </a:spcAft>
              <a:buNone/>
            </a:pPr>
            <a:r>
              <a:rPr lang="en-US" sz="15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src/bpf/ (eBPF 内核层)：</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包含 sys_behavior.bpf.c (核心系统调用) 与 ssl_sniffer.bpf.c (HTTPS 明文截获)。</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7" name="Google Shape;297;p26"/>
          <p:cNvSpPr txBox="1"/>
          <p:nvPr>
            <p:custDataLst>
              <p:tags r:id="rId5"/>
            </p:custDataLst>
          </p:nvPr>
        </p:nvSpPr>
        <p:spPr>
          <a:xfrm>
            <a:off x="885825" y="2727136"/>
            <a:ext cx="67628" cy="230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8" name="Google Shape;298;p26"/>
          <p:cNvSpPr txBox="1"/>
          <p:nvPr>
            <p:custDataLst>
              <p:tags r:id="rId6"/>
            </p:custDataLst>
          </p:nvPr>
        </p:nvSpPr>
        <p:spPr>
          <a:xfrm>
            <a:off x="1111896" y="2670457"/>
            <a:ext cx="4540745" cy="919480"/>
          </a:xfrm>
          <a:prstGeom prst="rect">
            <a:avLst/>
          </a:prstGeom>
          <a:noFill/>
          <a:ln>
            <a:noFill/>
          </a:ln>
        </p:spPr>
        <p:txBody>
          <a:bodyPr spcFirstLastPara="1" wrap="square" lIns="66675" tIns="0" rIns="0" bIns="0" anchor="t" anchorCtr="0">
            <a:spAutoFit/>
          </a:bodyPr>
          <a:lstStyle/>
          <a:p>
            <a:pPr marL="0" marR="0" lvl="0" indent="0" algn="l" rtl="0">
              <a:lnSpc>
                <a:spcPct val="133000"/>
              </a:lnSpc>
              <a:spcBef>
                <a:spcPts val="0"/>
              </a:spcBef>
              <a:spcAft>
                <a:spcPts val="0"/>
              </a:spcAft>
              <a:buNone/>
            </a:pPr>
            <a:r>
              <a:rPr lang="en-US" sz="15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src/user/ (C 语言用户态)：</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包含加载器与 ringbuf_handler.c，将海量内核事件序列化并通过 hiredis 高效推入 Redis。</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9" name="Google Shape;299;p26"/>
          <p:cNvSpPr txBox="1"/>
          <p:nvPr>
            <p:custDataLst>
              <p:tags r:id="rId7"/>
            </p:custDataLst>
          </p:nvPr>
        </p:nvSpPr>
        <p:spPr>
          <a:xfrm>
            <a:off x="885825" y="3896136"/>
            <a:ext cx="67628" cy="230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0" name="Google Shape;300;p26"/>
          <p:cNvSpPr txBox="1"/>
          <p:nvPr>
            <p:custDataLst>
              <p:tags r:id="rId8"/>
            </p:custDataLst>
          </p:nvPr>
        </p:nvSpPr>
        <p:spPr>
          <a:xfrm>
            <a:off x="1111896" y="3839458"/>
            <a:ext cx="4540745" cy="919480"/>
          </a:xfrm>
          <a:prstGeom prst="rect">
            <a:avLst/>
          </a:prstGeom>
          <a:noFill/>
          <a:ln>
            <a:noFill/>
          </a:ln>
        </p:spPr>
        <p:txBody>
          <a:bodyPr spcFirstLastPara="1" wrap="square" lIns="66675" tIns="0" rIns="0" bIns="0" anchor="t" anchorCtr="0">
            <a:spAutoFit/>
          </a:bodyPr>
          <a:lstStyle/>
          <a:p>
            <a:pPr marL="0" marR="0" lvl="0" indent="0" algn="l" rtl="0">
              <a:lnSpc>
                <a:spcPct val="133000"/>
              </a:lnSpc>
              <a:spcBef>
                <a:spcPts val="0"/>
              </a:spcBef>
              <a:spcAft>
                <a:spcPts val="0"/>
              </a:spcAft>
              <a:buNone/>
            </a:pPr>
            <a:r>
              <a:rPr lang="en-US" sz="15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analysis/intra_agent/：</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单体异常检测引擎，通过滑动窗口统计与规则表防范资源滥用。</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1" name="Google Shape;301;p26"/>
          <p:cNvSpPr txBox="1"/>
          <p:nvPr>
            <p:custDataLst>
              <p:tags r:id="rId9"/>
            </p:custDataLst>
          </p:nvPr>
        </p:nvSpPr>
        <p:spPr>
          <a:xfrm>
            <a:off x="885825" y="5065137"/>
            <a:ext cx="67628" cy="230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2" name="Google Shape;302;p26"/>
          <p:cNvSpPr txBox="1"/>
          <p:nvPr>
            <p:custDataLst>
              <p:tags r:id="rId10"/>
            </p:custDataLst>
          </p:nvPr>
        </p:nvSpPr>
        <p:spPr>
          <a:xfrm>
            <a:off x="1111896" y="5008458"/>
            <a:ext cx="4540745" cy="919480"/>
          </a:xfrm>
          <a:prstGeom prst="rect">
            <a:avLst/>
          </a:prstGeom>
          <a:noFill/>
          <a:ln>
            <a:noFill/>
          </a:ln>
        </p:spPr>
        <p:txBody>
          <a:bodyPr spcFirstLastPara="1" wrap="square" lIns="66675" tIns="0" rIns="0" bIns="0" anchor="t" anchorCtr="0">
            <a:spAutoFit/>
          </a:bodyPr>
          <a:lstStyle/>
          <a:p>
            <a:pPr marL="0" marR="0" lvl="0" indent="0" algn="l" rtl="0">
              <a:lnSpc>
                <a:spcPct val="133000"/>
              </a:lnSpc>
              <a:spcBef>
                <a:spcPts val="0"/>
              </a:spcBef>
              <a:spcAft>
                <a:spcPts val="0"/>
              </a:spcAft>
              <a:buNone/>
            </a:pPr>
            <a:r>
              <a:rPr lang="en-US" sz="1500" b="1" i="0" u="none" strike="noStrike" cap="non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analysis/inter_agent/：</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协同检测引擎，包含图数据构建、DOMINANT 模型推理与 BFS 传播路径追溯。</a:t>
            </a:r>
            <a:endParaRPr lang="en-US" sz="15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4" name="Google Shape;304;p26"/>
          <p:cNvSpPr txBox="1"/>
          <p:nvPr/>
        </p:nvSpPr>
        <p:spPr>
          <a:xfrm>
            <a:off x="762000" y="571500"/>
            <a:ext cx="11401425"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2.6 核心工程代码架构</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305" name="Google Shape;305;p26"/>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图片 1"/>
          <p:cNvPicPr>
            <a:picLocks noChangeAspect="1"/>
          </p:cNvPicPr>
          <p:nvPr/>
        </p:nvPicPr>
        <p:blipFill>
          <a:blip r:embed="rId11"/>
          <a:stretch>
            <a:fillRect/>
          </a:stretch>
        </p:blipFill>
        <p:spPr>
          <a:xfrm>
            <a:off x="6756400" y="1501140"/>
            <a:ext cx="4248150" cy="4476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309" name="Shape 309"/>
        <p:cNvGrpSpPr/>
        <p:nvPr/>
      </p:nvGrpSpPr>
      <p:grpSpPr>
        <a:xfrm>
          <a:off x="0" y="0"/>
          <a:ext cx="0" cy="0"/>
          <a:chOff x="0" y="0"/>
          <a:chExt cx="0" cy="0"/>
        </a:xfrm>
      </p:grpSpPr>
      <p:pic>
        <p:nvPicPr>
          <p:cNvPr id="310" name="Google Shape;310;p27"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11" name="Google Shape;311;p27"/>
          <p:cNvSpPr/>
          <p:nvPr/>
        </p:nvSpPr>
        <p:spPr>
          <a:xfrm>
            <a:off x="5619750" y="2574577"/>
            <a:ext cx="952500" cy="4762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2" name="Google Shape;312;p27"/>
          <p:cNvSpPr txBox="1"/>
          <p:nvPr/>
        </p:nvSpPr>
        <p:spPr>
          <a:xfrm>
            <a:off x="3695700" y="2907952"/>
            <a:ext cx="4800600" cy="692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rPr>
              <a:t>Part3.系统测试</a:t>
            </a:r>
            <a:endPar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endParaRPr>
          </a:p>
        </p:txBody>
      </p:sp>
      <p:sp>
        <p:nvSpPr>
          <p:cNvPr id="313" name="Google Shape;313;p27"/>
          <p:cNvSpPr txBox="1"/>
          <p:nvPr/>
        </p:nvSpPr>
        <p:spPr>
          <a:xfrm>
            <a:off x="5024437" y="4060477"/>
            <a:ext cx="2143125"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功能验证与性能评估</a:t>
            </a:r>
            <a:endPar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317" name="Shape 317"/>
        <p:cNvGrpSpPr/>
        <p:nvPr/>
      </p:nvGrpSpPr>
      <p:grpSpPr>
        <a:xfrm>
          <a:off x="0" y="0"/>
          <a:ext cx="0" cy="0"/>
          <a:chOff x="0" y="0"/>
          <a:chExt cx="0" cy="0"/>
        </a:xfrm>
      </p:grpSpPr>
      <p:pic>
        <p:nvPicPr>
          <p:cNvPr id="318" name="Google Shape;318;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graphicFrame>
        <p:nvGraphicFramePr>
          <p:cNvPr id="320" name="Google Shape;320;p28"/>
          <p:cNvGraphicFramePr/>
          <p:nvPr/>
        </p:nvGraphicFramePr>
        <p:xfrm>
          <a:off x="571500" y="1412875"/>
          <a:ext cx="11053445" cy="3781425"/>
        </p:xfrm>
        <a:graphic>
          <a:graphicData uri="http://schemas.openxmlformats.org/drawingml/2006/table">
            <a:tbl>
              <a:tblPr firstRow="1" bandRow="1">
                <a:noFill/>
                <a:tableStyleId>{D94B9D55-0863-4B58-93C3-68F691CC6A79}</a:tableStyleId>
              </a:tblPr>
              <a:tblGrid>
                <a:gridCol w="2171700"/>
                <a:gridCol w="5744175"/>
                <a:gridCol w="3137535"/>
              </a:tblGrid>
              <a:tr h="630200">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测试功能维度</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测试场景说明</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测试结论</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r>
              <a:tr h="630200">
                <a:tc>
                  <a:txBody>
                    <a:bodyPr/>
                    <a:lstStyle/>
                    <a:p>
                      <a:pPr marL="0" marR="0" lvl="0" indent="0" algn="l" rtl="0">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智能体启动识别</a:t>
                      </a:r>
                      <a:endPar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真实启动测试，覆盖 Claude, OpenCode 等，准确捕获进程树。</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Pass</a:t>
                      </a:r>
                      <a:endPar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200">
                <a:tc>
                  <a:txBody>
                    <a:bodyPr/>
                    <a:lstStyle/>
                    <a:p>
                      <a:pPr marL="0" marR="0" lvl="0" indent="0" algn="l" rtl="0">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底层行为与资源捕获</a:t>
                      </a:r>
                      <a:endPar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 fork, execve, open, unlink 等调用，及 CPU/内存资源捕获。</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Pass</a:t>
                      </a:r>
                      <a:endPar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200">
                <a:tc>
                  <a:txBody>
                    <a:bodyPr/>
                    <a:lstStyle/>
                    <a:p>
                      <a:pPr marL="0" marR="0" lvl="0" indent="0" algn="l" rtl="0">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HTTPS 明文截获</a:t>
                      </a:r>
                      <a:endPar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测试不同语言架构 (Python/C++/Node/Go) 的通信拦截。</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Pass</a:t>
                      </a:r>
                      <a:endPar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200">
                <a:tc>
                  <a:txBody>
                    <a:bodyPr/>
                    <a:lstStyle/>
                    <a:p>
                      <a:pPr marL="0" marR="0" lvl="0" indent="0" algn="l" rtl="0">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多检测器全流水线处理</a:t>
                      </a:r>
                      <a:endPar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注入 19 种预设异常集，验证 BFS 传播与 GNN 模型重构。</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Pass</a:t>
                      </a:r>
                      <a:endPar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30225">
                <a:tc>
                  <a:txBody>
                    <a:bodyPr/>
                    <a:lstStyle/>
                    <a:p>
                      <a:pPr marL="0" marR="0" lvl="0" indent="0" algn="l" rtl="0">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结构化日志与归因</a:t>
                      </a:r>
                      <a:endPar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验证日志中时间戳、操作对象、语义上下文及 Root Cause 的完整性。</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Pass</a:t>
                      </a:r>
                      <a:endParaRPr lang="en-US" sz="1350" b="1"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336" name="Google Shape;336;p28"/>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3.1 功能与兼容性测试</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pic>
        <p:nvPicPr>
          <p:cNvPr id="149" name="Google Shape;149;p17" descr="image.png"/>
          <p:cNvPicPr preferRelativeResize="0"/>
          <p:nvPr/>
        </p:nvPicPr>
        <p:blipFill rotWithShape="1">
          <a:blip r:embed="rId2"/>
          <a:srcRect/>
          <a:stretch>
            <a:fillRect/>
          </a:stretch>
        </p:blipFill>
        <p:spPr>
          <a:xfrm>
            <a:off x="571500" y="5369560"/>
            <a:ext cx="11049635" cy="1167130"/>
          </a:xfrm>
          <a:prstGeom prst="rect">
            <a:avLst/>
          </a:prstGeom>
          <a:noFill/>
          <a:ln>
            <a:noFill/>
          </a:ln>
        </p:spPr>
      </p:pic>
      <p:sp>
        <p:nvSpPr>
          <p:cNvPr id="152" name="Google Shape;152;p17"/>
          <p:cNvSpPr txBox="1"/>
          <p:nvPr/>
        </p:nvSpPr>
        <p:spPr>
          <a:xfrm>
            <a:off x="866775" y="5427980"/>
            <a:ext cx="10389870" cy="103251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全部测试功能（</a:t>
            </a:r>
            <a:r>
              <a:rPr lang="en-US" altLang="zh-CN"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Pass</a:t>
            </a: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智能体启动识别，智能体行为捕获，智能体明文捕获，智能体资源占用捕获，</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intra-agent </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单体规则检测，</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LLM </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审计复核，黑白灰名单分流，</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SQLite </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落库完整性，多智能体规则检测器正常判定，多智能体规则检测器异常捕获，消息检测器正常判定，消息检测器内部告警，全流水线正常处理，日志报告结构完整性</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l" rtl="0">
              <a:lnSpc>
                <a:spcPct val="160000"/>
              </a:lnSpc>
              <a:spcBef>
                <a:spcPts val="0"/>
              </a:spcBef>
              <a:spcAft>
                <a:spcPts val="0"/>
              </a:spcAft>
              <a:buNone/>
            </a:pP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341" name="Shape 341"/>
        <p:cNvGrpSpPr/>
        <p:nvPr/>
      </p:nvGrpSpPr>
      <p:grpSpPr>
        <a:xfrm>
          <a:off x="0" y="0"/>
          <a:ext cx="0" cy="0"/>
          <a:chOff x="0" y="0"/>
          <a:chExt cx="0" cy="0"/>
        </a:xfrm>
      </p:grpSpPr>
      <p:pic>
        <p:nvPicPr>
          <p:cNvPr id="342" name="Google Shape;342;p2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8" name="流程图: 可选过程 7"/>
          <p:cNvSpPr/>
          <p:nvPr/>
        </p:nvSpPr>
        <p:spPr>
          <a:xfrm>
            <a:off x="3147695" y="3815715"/>
            <a:ext cx="8481060" cy="503555"/>
          </a:xfrm>
          <a:prstGeom prst="flowChartAlternateProcess">
            <a:avLst/>
          </a:prstGeom>
          <a:solidFill>
            <a:schemeClr val="bg1">
              <a:lumMod val="85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chemeClr val="accent1">
                      <a:lumMod val="5000"/>
                      <a:lumOff val="95000"/>
                    </a:schemeClr>
                  </a:gs>
                  <a:gs pos="58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ndParaRPr>
          </a:p>
        </p:txBody>
      </p:sp>
      <p:pic>
        <p:nvPicPr>
          <p:cNvPr id="343" name="Google Shape;343;p29" descr="image.png"/>
          <p:cNvPicPr preferRelativeResize="0"/>
          <p:nvPr/>
        </p:nvPicPr>
        <p:blipFill rotWithShape="1">
          <a:blip r:embed="rId2"/>
          <a:srcRect/>
          <a:stretch>
            <a:fillRect/>
          </a:stretch>
        </p:blipFill>
        <p:spPr>
          <a:xfrm>
            <a:off x="571500" y="4677667"/>
            <a:ext cx="11049000" cy="1167705"/>
          </a:xfrm>
          <a:prstGeom prst="rect">
            <a:avLst/>
          </a:prstGeom>
          <a:noFill/>
          <a:ln>
            <a:noFill/>
          </a:ln>
        </p:spPr>
      </p:pic>
      <p:sp>
        <p:nvSpPr>
          <p:cNvPr id="345" name="Google Shape;345;p29"/>
          <p:cNvSpPr txBox="1"/>
          <p:nvPr/>
        </p:nvSpPr>
        <p:spPr>
          <a:xfrm>
            <a:off x="571500" y="1784002"/>
            <a:ext cx="656332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系统经过严苛压测，轻量化运行指标完美契合赛题 </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“性能损耗不大于 5%”</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的核心要求。</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6" name="Google Shape;346;p29"/>
          <p:cNvSpPr txBox="1"/>
          <p:nvPr/>
        </p:nvSpPr>
        <p:spPr>
          <a:xfrm>
            <a:off x="866775" y="4915792"/>
            <a:ext cx="10515600"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高实时性响应：</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得益于eBPF到Redis的高效Ring Buffer传输，从事件捕获到多层分析归因，全链路端到端平均响应时间仅需</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13ms</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，具备实际环境部署的强工程可行性。</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7" name="Google Shape;347;p29"/>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3.2 系统性能与端侧开销</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348" name="Google Shape;348;p29"/>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 name="流程图: 可选过程 6"/>
          <p:cNvSpPr/>
          <p:nvPr/>
        </p:nvSpPr>
        <p:spPr>
          <a:xfrm>
            <a:off x="3147695" y="3085465"/>
            <a:ext cx="8481060" cy="503555"/>
          </a:xfrm>
          <a:prstGeom prst="flowChartAlternateProcess">
            <a:avLst/>
          </a:prstGeom>
          <a:solidFill>
            <a:schemeClr val="bg1">
              <a:lumMod val="85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chemeClr val="accent1">
                      <a:lumMod val="5000"/>
                      <a:lumOff val="95000"/>
                    </a:schemeClr>
                  </a:gs>
                  <a:gs pos="58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ndParaRPr>
          </a:p>
        </p:txBody>
      </p:sp>
      <p:sp>
        <p:nvSpPr>
          <p:cNvPr id="1" name="流程图: 可选过程 0"/>
          <p:cNvSpPr/>
          <p:nvPr/>
        </p:nvSpPr>
        <p:spPr>
          <a:xfrm>
            <a:off x="3147695" y="2354580"/>
            <a:ext cx="8481060" cy="503555"/>
          </a:xfrm>
          <a:prstGeom prst="flowChartAlternateProcess">
            <a:avLst/>
          </a:prstGeom>
          <a:gradFill>
            <a:gsLst>
              <a:gs pos="0">
                <a:schemeClr val="accent1">
                  <a:lumMod val="5000"/>
                  <a:lumOff val="95000"/>
                </a:schemeClr>
              </a:gs>
              <a:gs pos="100000">
                <a:srgbClr val="005288"/>
              </a:gs>
              <a:gs pos="100000">
                <a:schemeClr val="accent1">
                  <a:lumMod val="45000"/>
                  <a:lumOff val="55000"/>
                </a:schemeClr>
              </a:gs>
              <a:gs pos="100000">
                <a:srgbClr val="B2C8E2">
                  <a:alpha val="100000"/>
                </a:srgbClr>
              </a:gs>
              <a:gs pos="100000">
                <a:srgbClr val="B4C9E3">
                  <a:alpha val="100000"/>
                </a:srgbClr>
              </a:gs>
              <a:gs pos="100000">
                <a:srgbClr val="B7CBE4">
                  <a:alpha val="100000"/>
                </a:srgbClr>
              </a:gs>
              <a:gs pos="100000">
                <a:srgbClr val="BDD0E6">
                  <a:alpha val="100000"/>
                </a:srgbClr>
              </a:gs>
              <a:gs pos="100000">
                <a:schemeClr val="accent1">
                  <a:lumMod val="30000"/>
                  <a:lumOff val="70000"/>
                </a:schemeClr>
              </a:gs>
            </a:gsLst>
            <a:lin ang="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chemeClr val="accent1">
                      <a:lumMod val="5000"/>
                      <a:lumOff val="95000"/>
                    </a:schemeClr>
                  </a:gs>
                  <a:gs pos="58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ndParaRPr>
          </a:p>
        </p:txBody>
      </p:sp>
      <p:sp>
        <p:nvSpPr>
          <p:cNvPr id="2" name="流程图: 可选过程 1"/>
          <p:cNvSpPr/>
          <p:nvPr/>
        </p:nvSpPr>
        <p:spPr>
          <a:xfrm>
            <a:off x="3147695" y="3084830"/>
            <a:ext cx="3125470" cy="503555"/>
          </a:xfrm>
          <a:prstGeom prst="flowChartAlternateProcess">
            <a:avLst/>
          </a:prstGeom>
          <a:gradFill>
            <a:gsLst>
              <a:gs pos="0">
                <a:schemeClr val="accent1">
                  <a:lumMod val="5000"/>
                  <a:lumOff val="95000"/>
                </a:schemeClr>
              </a:gs>
              <a:gs pos="100000">
                <a:srgbClr val="005288"/>
              </a:gs>
              <a:gs pos="100000">
                <a:schemeClr val="accent1">
                  <a:lumMod val="45000"/>
                  <a:lumOff val="55000"/>
                </a:schemeClr>
              </a:gs>
              <a:gs pos="100000">
                <a:srgbClr val="B2C8E2"/>
              </a:gs>
              <a:gs pos="100000">
                <a:srgbClr val="B4C9E3"/>
              </a:gs>
              <a:gs pos="100000">
                <a:srgbClr val="B7CBE4"/>
              </a:gs>
              <a:gs pos="100000">
                <a:srgbClr val="BDD0E6"/>
              </a:gs>
              <a:gs pos="100000">
                <a:schemeClr val="accent1">
                  <a:lumMod val="30000"/>
                  <a:lumOff val="70000"/>
                </a:schemeClr>
              </a:gs>
            </a:gsLst>
            <a:lin ang="0" scaled="0"/>
          </a:gradFill>
          <a:ln w="12700" cmpd="sng">
            <a:solidFill>
              <a:schemeClr val="bg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流程图: 可选过程 2"/>
          <p:cNvSpPr/>
          <p:nvPr/>
        </p:nvSpPr>
        <p:spPr>
          <a:xfrm>
            <a:off x="3147695" y="3815715"/>
            <a:ext cx="949325" cy="503555"/>
          </a:xfrm>
          <a:prstGeom prst="flowChartAlternateProcess">
            <a:avLst/>
          </a:prstGeom>
          <a:gradFill>
            <a:gsLst>
              <a:gs pos="0">
                <a:schemeClr val="accent1">
                  <a:lumMod val="5000"/>
                  <a:lumOff val="95000"/>
                </a:schemeClr>
              </a:gs>
              <a:gs pos="100000">
                <a:srgbClr val="005288"/>
              </a:gs>
              <a:gs pos="100000">
                <a:schemeClr val="accent1">
                  <a:lumMod val="45000"/>
                  <a:lumOff val="55000"/>
                </a:schemeClr>
              </a:gs>
              <a:gs pos="100000">
                <a:srgbClr val="B2C8E2"/>
              </a:gs>
              <a:gs pos="100000">
                <a:srgbClr val="B4C9E3"/>
              </a:gs>
              <a:gs pos="100000">
                <a:srgbClr val="B7CBE4"/>
              </a:gs>
              <a:gs pos="100000">
                <a:srgbClr val="BDD0E6"/>
              </a:gs>
              <a:gs pos="100000">
                <a:schemeClr val="accent1">
                  <a:lumMod val="30000"/>
                  <a:lumOff val="70000"/>
                </a:schemeClr>
              </a:gs>
            </a:gsLst>
            <a:lin ang="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377950" y="2437765"/>
            <a:ext cx="1628775" cy="337185"/>
          </a:xfrm>
          <a:prstGeom prst="rect">
            <a:avLst/>
          </a:prstGeom>
          <a:noFill/>
        </p:spPr>
        <p:txBody>
          <a:bodyPr wrap="square" rtlCol="0">
            <a:spAutoFit/>
          </a:bodyPr>
          <a:p>
            <a:r>
              <a:rPr lang="zh-CN" altLang="en-US" sz="1600" b="1">
                <a:ln/>
                <a:solidFill>
                  <a:schemeClr val="bg2"/>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内核事件抓取率</a:t>
            </a:r>
            <a:endParaRPr lang="zh-CN" altLang="en-US" sz="1600" b="1">
              <a:ln/>
              <a:solidFill>
                <a:schemeClr val="bg2"/>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
        <p:nvSpPr>
          <p:cNvPr id="5" name="文本框 4"/>
          <p:cNvSpPr txBox="1"/>
          <p:nvPr/>
        </p:nvSpPr>
        <p:spPr>
          <a:xfrm>
            <a:off x="1577975" y="3120390"/>
            <a:ext cx="1628775" cy="337185"/>
          </a:xfrm>
          <a:prstGeom prst="rect">
            <a:avLst/>
          </a:prstGeom>
          <a:noFill/>
        </p:spPr>
        <p:txBody>
          <a:bodyPr wrap="square" rtlCol="0">
            <a:spAutoFit/>
          </a:bodyPr>
          <a:p>
            <a:r>
              <a:rPr lang="zh-CN" altLang="en-US" sz="1600" b="1">
                <a:solidFill>
                  <a:schemeClr val="bg2"/>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异常响应延迟</a:t>
            </a:r>
            <a:endParaRPr lang="zh-CN" altLang="en-US" sz="1600" b="1">
              <a:solidFill>
                <a:schemeClr val="bg2"/>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
        <p:nvSpPr>
          <p:cNvPr id="6" name="文本框 5"/>
          <p:cNvSpPr txBox="1"/>
          <p:nvPr/>
        </p:nvSpPr>
        <p:spPr>
          <a:xfrm>
            <a:off x="769620" y="3898900"/>
            <a:ext cx="2378075" cy="337185"/>
          </a:xfrm>
          <a:prstGeom prst="rect">
            <a:avLst/>
          </a:prstGeom>
          <a:noFill/>
        </p:spPr>
        <p:txBody>
          <a:bodyPr wrap="square" rtlCol="0">
            <a:spAutoFit/>
          </a:bodyPr>
          <a:p>
            <a:r>
              <a:rPr lang="zh-CN" altLang="en-US" sz="1600" b="1">
                <a:solidFill>
                  <a:schemeClr val="bg2"/>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数据捕获额外性能开销</a:t>
            </a:r>
            <a:endParaRPr lang="zh-CN" altLang="en-US" sz="1600" b="1">
              <a:solidFill>
                <a:schemeClr val="bg2"/>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
        <p:nvSpPr>
          <p:cNvPr id="9" name="文本框 8"/>
          <p:cNvSpPr txBox="1"/>
          <p:nvPr/>
        </p:nvSpPr>
        <p:spPr>
          <a:xfrm>
            <a:off x="9852025" y="2438400"/>
            <a:ext cx="1628775" cy="337185"/>
          </a:xfrm>
          <a:prstGeom prst="rect">
            <a:avLst/>
          </a:prstGeom>
          <a:noFill/>
        </p:spPr>
        <p:txBody>
          <a:bodyPr wrap="square" rtlCol="0">
            <a:spAutoFit/>
          </a:bodyPr>
          <a:p>
            <a:r>
              <a:rPr lang="en-US" altLang="zh-CN" sz="1600" b="1">
                <a:solidFill>
                  <a:schemeClr val="bg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100%</a:t>
            </a:r>
            <a:r>
              <a:rPr lang="zh-CN" altLang="en-US" sz="1600" b="1">
                <a:solidFill>
                  <a:schemeClr val="bg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（可靠性高）</a:t>
            </a:r>
            <a:endParaRPr lang="zh-CN" altLang="en-US" sz="1600" b="1">
              <a:solidFill>
                <a:schemeClr val="bg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
        <p:nvSpPr>
          <p:cNvPr id="10" name="文本框 9"/>
          <p:cNvSpPr txBox="1"/>
          <p:nvPr/>
        </p:nvSpPr>
        <p:spPr>
          <a:xfrm>
            <a:off x="5120005" y="3154680"/>
            <a:ext cx="1628775" cy="337185"/>
          </a:xfrm>
          <a:prstGeom prst="rect">
            <a:avLst/>
          </a:prstGeom>
          <a:noFill/>
        </p:spPr>
        <p:txBody>
          <a:bodyPr wrap="square" rtlCol="0">
            <a:spAutoFit/>
          </a:bodyPr>
          <a:p>
            <a:r>
              <a:rPr lang="en-US" altLang="zh-CN" sz="1600" b="1">
                <a:solidFill>
                  <a:schemeClr val="bg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13ms/</a:t>
            </a:r>
            <a:r>
              <a:rPr lang="zh-CN" altLang="en-US" sz="1600" b="1">
                <a:solidFill>
                  <a:schemeClr val="bg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轮次</a:t>
            </a:r>
            <a:endParaRPr lang="zh-CN" altLang="en-US" sz="1600" b="1">
              <a:solidFill>
                <a:schemeClr val="bg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
        <p:nvSpPr>
          <p:cNvPr id="11" name="文本框 10"/>
          <p:cNvSpPr txBox="1"/>
          <p:nvPr/>
        </p:nvSpPr>
        <p:spPr>
          <a:xfrm>
            <a:off x="4231640" y="3898900"/>
            <a:ext cx="1628775" cy="337185"/>
          </a:xfrm>
          <a:prstGeom prst="rect">
            <a:avLst/>
          </a:prstGeom>
          <a:noFill/>
        </p:spPr>
        <p:txBody>
          <a:bodyPr wrap="square" rtlCol="0">
            <a:spAutoFit/>
          </a:bodyPr>
          <a:p>
            <a:r>
              <a:rPr lang="en-US" altLang="zh-CN" sz="1600" b="1">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2.72%</a:t>
            </a:r>
            <a:r>
              <a:rPr lang="zh-CN" altLang="en-US" sz="1600" b="1">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（开销低）</a:t>
            </a:r>
            <a:endParaRPr lang="zh-CN" altLang="en-US" sz="1600" b="1">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2" name="Google Shape;342;p2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 name="图片 11" descr="Gemini_Generated_Image_wyls7qwyls7qwyls"/>
          <p:cNvPicPr>
            <a:picLocks noChangeAspect="1"/>
          </p:cNvPicPr>
          <p:nvPr/>
        </p:nvPicPr>
        <p:blipFill>
          <a:blip r:embed="rId2"/>
          <a:srcRect t="11889"/>
          <a:stretch>
            <a:fillRect/>
          </a:stretch>
        </p:blipFill>
        <p:spPr>
          <a:xfrm>
            <a:off x="571500" y="1332230"/>
            <a:ext cx="10726420" cy="5154930"/>
          </a:xfrm>
          <a:prstGeom prst="rect">
            <a:avLst/>
          </a:prstGeom>
        </p:spPr>
      </p:pic>
      <p:sp>
        <p:nvSpPr>
          <p:cNvPr id="347" name="Google Shape;347;p29"/>
          <p:cNvSpPr txBox="1"/>
          <p:nvPr/>
        </p:nvSpPr>
        <p:spPr>
          <a:xfrm>
            <a:off x="762000" y="571500"/>
            <a:ext cx="11401425"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3.2 系统性能</a:t>
            </a:r>
            <a:r>
              <a:rPr lang="zh-CN" altLang="en-US" sz="28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测试报告</a:t>
            </a:r>
            <a:endParaRPr lang="zh-CN" altLang="en-US" sz="28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endParaRPr>
          </a:p>
        </p:txBody>
      </p:sp>
      <p:sp>
        <p:nvSpPr>
          <p:cNvPr id="348" name="Google Shape;348;p29"/>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352" name="Shape 352"/>
        <p:cNvGrpSpPr/>
        <p:nvPr/>
      </p:nvGrpSpPr>
      <p:grpSpPr>
        <a:xfrm>
          <a:off x="0" y="0"/>
          <a:ext cx="0" cy="0"/>
          <a:chOff x="0" y="0"/>
          <a:chExt cx="0" cy="0"/>
        </a:xfrm>
      </p:grpSpPr>
      <p:pic>
        <p:nvPicPr>
          <p:cNvPr id="353" name="Google Shape;353;p30"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54" name="Google Shape;354;p30"/>
          <p:cNvSpPr/>
          <p:nvPr/>
        </p:nvSpPr>
        <p:spPr>
          <a:xfrm>
            <a:off x="5619750" y="2574577"/>
            <a:ext cx="952500" cy="4762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55" name="Google Shape;355;p30"/>
          <p:cNvSpPr txBox="1"/>
          <p:nvPr/>
        </p:nvSpPr>
        <p:spPr>
          <a:xfrm>
            <a:off x="3695700" y="2907952"/>
            <a:ext cx="4800600" cy="692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rPr>
              <a:t>Part4.项目说明</a:t>
            </a:r>
            <a:endPar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endParaRPr>
          </a:p>
        </p:txBody>
      </p:sp>
      <p:sp>
        <p:nvSpPr>
          <p:cNvPr id="356" name="Google Shape;356;p30"/>
          <p:cNvSpPr txBox="1"/>
          <p:nvPr/>
        </p:nvSpPr>
        <p:spPr>
          <a:xfrm>
            <a:off x="5024437" y="4060477"/>
            <a:ext cx="2143125"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研发历程与团队分工</a:t>
            </a:r>
            <a:endPar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360" name="Shape 360"/>
        <p:cNvGrpSpPr/>
        <p:nvPr/>
      </p:nvGrpSpPr>
      <p:grpSpPr>
        <a:xfrm>
          <a:off x="0" y="0"/>
          <a:ext cx="0" cy="0"/>
          <a:chOff x="0" y="0"/>
          <a:chExt cx="0" cy="0"/>
        </a:xfrm>
      </p:grpSpPr>
      <p:pic>
        <p:nvPicPr>
          <p:cNvPr id="361" name="Google Shape;361;p3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62" name="Google Shape;362;p31" descr="image.png"/>
          <p:cNvPicPr preferRelativeResize="0"/>
          <p:nvPr/>
        </p:nvPicPr>
        <p:blipFill rotWithShape="1">
          <a:blip r:embed="rId2"/>
          <a:srcRect/>
          <a:stretch>
            <a:fillRect/>
          </a:stretch>
        </p:blipFill>
        <p:spPr>
          <a:xfrm>
            <a:off x="571500" y="2017514"/>
            <a:ext cx="5286375" cy="3594496"/>
          </a:xfrm>
          <a:prstGeom prst="rect">
            <a:avLst/>
          </a:prstGeom>
          <a:noFill/>
          <a:ln>
            <a:noFill/>
          </a:ln>
        </p:spPr>
      </p:pic>
      <p:pic>
        <p:nvPicPr>
          <p:cNvPr id="363" name="Google Shape;363;p31" descr="image.png"/>
          <p:cNvPicPr preferRelativeResize="0"/>
          <p:nvPr/>
        </p:nvPicPr>
        <p:blipFill rotWithShape="1">
          <a:blip r:embed="rId3"/>
          <a:srcRect/>
          <a:stretch>
            <a:fillRect/>
          </a:stretch>
        </p:blipFill>
        <p:spPr>
          <a:xfrm>
            <a:off x="6334125" y="2017514"/>
            <a:ext cx="5286375" cy="3594496"/>
          </a:xfrm>
          <a:prstGeom prst="rect">
            <a:avLst/>
          </a:prstGeom>
          <a:noFill/>
          <a:ln>
            <a:noFill/>
          </a:ln>
        </p:spPr>
      </p:pic>
      <p:sp>
        <p:nvSpPr>
          <p:cNvPr id="364" name="Google Shape;364;p31"/>
          <p:cNvSpPr txBox="1"/>
          <p:nvPr/>
        </p:nvSpPr>
        <p:spPr>
          <a:xfrm>
            <a:off x="962025" y="2408039"/>
            <a:ext cx="4730591"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9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问题</a:t>
            </a: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 1：探针挂载 (ENOENT) 失败</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365" name="Google Shape;365;p31"/>
          <p:cNvSpPr txBox="1"/>
          <p:nvPr/>
        </p:nvSpPr>
        <p:spPr>
          <a:xfrm>
            <a:off x="962025" y="2884289"/>
            <a:ext cx="4505325" cy="219432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现象：</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智能体应用(如 Node)热更新时二进制文件被覆盖，导致 readlink 获取路径末尾带有 (deleted) 后缀，使得 Uprobe 挂载失败。</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发现运行中进程的 Inode 未销毁，系统增加逻辑，若命中 (deleted)，则强制回退使用 Linux VFS 的 /proc/PID/exe 裸路径，彻底解决了动态更新导致的探针脱落。</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6" name="Google Shape;366;p31"/>
          <p:cNvSpPr txBox="1"/>
          <p:nvPr/>
        </p:nvSpPr>
        <p:spPr>
          <a:xfrm>
            <a:off x="6724650" y="2408039"/>
            <a:ext cx="4730591" cy="299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9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问题</a:t>
            </a:r>
            <a:r>
              <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rPr>
              <a:t> 2：纯 LLM 检测瓶颈</a:t>
            </a:r>
            <a:endParaRPr lang="en-US" sz="19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367" name="Google Shape;367;p31"/>
          <p:cNvSpPr txBox="1"/>
          <p:nvPr/>
        </p:nvSpPr>
        <p:spPr>
          <a:xfrm>
            <a:off x="6724650" y="2884289"/>
            <a:ext cx="4505325" cy="19200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现象：</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早期尝试使用大语言模型直接处理图拓扑，不仅幻觉多、容易误判，且单次检测耗时高达数秒，不符合毫秒级要求。</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彻底重构为 </a:t>
            </a: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“规则本地筛查 + GNN图计算 + LLM 仅做语义复核”</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的漏斗架构。本地 O(1) 极速拦截，仅将高价值线索送交模型，完美平衡了效率与准确率。</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8" name="Google Shape;368;p31"/>
          <p:cNvSpPr txBox="1"/>
          <p:nvPr/>
        </p:nvSpPr>
        <p:spPr>
          <a:xfrm>
            <a:off x="762000" y="571500"/>
            <a:ext cx="11401425"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4.1 研发过程</a:t>
            </a:r>
            <a:r>
              <a:rPr lang="zh-CN" altLang="en-US" sz="28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问题</a:t>
            </a: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与设计迭代</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369" name="Google Shape;369;p31"/>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373" name="Shape 373"/>
        <p:cNvGrpSpPr/>
        <p:nvPr/>
      </p:nvGrpSpPr>
      <p:grpSpPr>
        <a:xfrm>
          <a:off x="0" y="0"/>
          <a:ext cx="0" cy="0"/>
          <a:chOff x="0" y="0"/>
          <a:chExt cx="0" cy="0"/>
        </a:xfrm>
      </p:grpSpPr>
      <p:pic>
        <p:nvPicPr>
          <p:cNvPr id="374" name="Google Shape;374;p3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75" name="Google Shape;375;p32"/>
          <p:cNvSpPr txBox="1"/>
          <p:nvPr/>
        </p:nvSpPr>
        <p:spPr>
          <a:xfrm>
            <a:off x="571500" y="5324475"/>
            <a:ext cx="15430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时间推进节点纪要：</a:t>
            </a:r>
            <a:endPar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76" name="Google Shape;376;p32"/>
          <p:cNvSpPr/>
          <p:nvPr/>
        </p:nvSpPr>
        <p:spPr>
          <a:xfrm>
            <a:off x="571500" y="1646039"/>
            <a:ext cx="11049000" cy="275451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377" name="Google Shape;377;p32"/>
          <p:cNvGraphicFramePr/>
          <p:nvPr/>
        </p:nvGraphicFramePr>
        <p:xfrm>
          <a:off x="571500" y="1646039"/>
          <a:ext cx="11049000" cy="3672840"/>
        </p:xfrm>
        <a:graphic>
          <a:graphicData uri="http://schemas.openxmlformats.org/drawingml/2006/table">
            <a:tbl>
              <a:tblPr firstRow="1" bandRow="1">
                <a:noFill/>
                <a:tableStyleId>{D94B9D55-0863-4B58-93C3-68F691CC6A79}</a:tableStyleId>
              </a:tblPr>
              <a:tblGrid>
                <a:gridCol w="1340650"/>
                <a:gridCol w="9708350"/>
              </a:tblGrid>
              <a:tr h="918175">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成员 / 角色</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rPr>
                        <a:t>核心负责模块与贡献</a:t>
                      </a:r>
                      <a:endParaRPr lang="en-US" sz="1500" b="1" i="0" u="none" strike="noStrike" cap="none">
                        <a:solidFill>
                          <a:srgbClr val="F3F0DF"/>
                        </a:solidFill>
                        <a:latin typeface="Arial" panose="020B0604020202020204"/>
                        <a:ea typeface="Arial" panose="020B0604020202020204"/>
                        <a:cs typeface="Arial" panose="020B0604020202020204"/>
                        <a:sym typeface="Arial" panose="020B0604020202020204"/>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r>
              <a:tr h="918175">
                <a:tc>
                  <a:txBody>
                    <a:bodyPr/>
                    <a:lstStyle/>
                    <a:p>
                      <a:pPr marL="0" marR="0" lvl="0" indent="0" algn="l" rtl="0">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郝依凝</a:t>
                      </a:r>
                      <a:endPar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负责底层架构设计、eBPF (C 语言/系统编程) 内核探针开发、高吞吐中间件(Redis/C++)集成、以及跨多环境的智能体明文捕获算法。</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918175">
                <a:tc>
                  <a:txBody>
                    <a:bodyPr/>
                    <a:p>
                      <a:pPr marL="0" marR="0" lvl="0" indent="0" algn="l" rtl="0">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姜高阳</a:t>
                      </a:r>
                      <a:endPar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p>
                      <a:pPr marL="0" marR="0" lvl="0" indent="0" algn="l" rtl="0">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负责黑白名单配置、单智能体异常识别规则与算法设计、</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LLM</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审计机制接入、根因定位与告警输出。</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918175">
                <a:tc>
                  <a:txBody>
                    <a:bodyPr/>
                    <a:lstStyle/>
                    <a:p>
                      <a:pPr marL="0" marR="0" lvl="0" indent="0" algn="l" rtl="0">
                        <a:spcBef>
                          <a:spcPts val="0"/>
                        </a:spcBef>
                        <a:spcAft>
                          <a:spcPts val="0"/>
                        </a:spcAft>
                        <a:buNone/>
                      </a:pPr>
                      <a:r>
                        <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康凯悦</a:t>
                      </a:r>
                      <a:endParaRPr lang="zh-CN" alt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负责用户态 Python 分析层开发、多智能体交互逻辑图神经网络 (GNN) 构建、规则检测引擎及全系统集成与数据集测试编排。</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378" name="Google Shape;378;p32"/>
          <p:cNvSpPr txBox="1"/>
          <p:nvPr>
            <p:custDataLst>
              <p:tags r:id="rId2"/>
            </p:custDataLst>
          </p:nvPr>
        </p:nvSpPr>
        <p:spPr>
          <a:xfrm>
            <a:off x="1085850" y="5740687"/>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79" name="Google Shape;379;p32"/>
          <p:cNvSpPr txBox="1"/>
          <p:nvPr>
            <p:custDataLst>
              <p:tags r:id="rId3"/>
            </p:custDataLst>
          </p:nvPr>
        </p:nvSpPr>
        <p:spPr>
          <a:xfrm>
            <a:off x="1177925" y="5636865"/>
            <a:ext cx="6525369" cy="27429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5.25 - 5.30：</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架构初始化，攻克底层 eBPF 系统调用基础事件捕获。</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0" name="Google Shape;380;p32"/>
          <p:cNvSpPr txBox="1"/>
          <p:nvPr>
            <p:custDataLst>
              <p:tags r:id="rId4"/>
            </p:custDataLst>
          </p:nvPr>
        </p:nvSpPr>
        <p:spPr>
          <a:xfrm>
            <a:off x="1085850" y="6014977"/>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1" name="Google Shape;381;p32"/>
          <p:cNvSpPr txBox="1"/>
          <p:nvPr>
            <p:custDataLst>
              <p:tags r:id="rId5"/>
            </p:custDataLst>
          </p:nvPr>
        </p:nvSpPr>
        <p:spPr>
          <a:xfrm>
            <a:off x="1177925" y="5911155"/>
            <a:ext cx="6525369" cy="27429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6.01 - 6.15：</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完成不同语言的 HTTPS 明文截获，修复 (deleted) 路径脱落 Bug。</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2" name="Google Shape;382;p32"/>
          <p:cNvSpPr txBox="1"/>
          <p:nvPr>
            <p:custDataLst>
              <p:tags r:id="rId6"/>
            </p:custDataLst>
          </p:nvPr>
        </p:nvSpPr>
        <p:spPr>
          <a:xfrm>
            <a:off x="1085850" y="6289268"/>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3" name="Google Shape;383;p32"/>
          <p:cNvSpPr txBox="1"/>
          <p:nvPr>
            <p:custDataLst>
              <p:tags r:id="rId7"/>
            </p:custDataLst>
          </p:nvPr>
        </p:nvSpPr>
        <p:spPr>
          <a:xfrm>
            <a:off x="1177925" y="6185445"/>
            <a:ext cx="6525369" cy="27429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6.16 - 6.28：</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整合多智能体网络分析图模型，引入语义日志关联机制并完成性能压测。</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4" name="Google Shape;384;p32"/>
          <p:cNvSpPr/>
          <p:nvPr/>
        </p:nvSpPr>
        <p:spPr>
          <a:xfrm>
            <a:off x="571500" y="2593776"/>
            <a:ext cx="134064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85" name="Google Shape;385;p32"/>
          <p:cNvSpPr/>
          <p:nvPr/>
        </p:nvSpPr>
        <p:spPr>
          <a:xfrm>
            <a:off x="1912143" y="2593776"/>
            <a:ext cx="970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86" name="Google Shape;386;p32"/>
          <p:cNvSpPr/>
          <p:nvPr/>
        </p:nvSpPr>
        <p:spPr>
          <a:xfrm>
            <a:off x="571500" y="3494782"/>
            <a:ext cx="134064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87" name="Google Shape;387;p32"/>
          <p:cNvSpPr/>
          <p:nvPr/>
        </p:nvSpPr>
        <p:spPr>
          <a:xfrm>
            <a:off x="1912143" y="3494782"/>
            <a:ext cx="970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88" name="Google Shape;388;p32"/>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4.2 团队分工与时间节点</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389" name="Google Shape;389;p32"/>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393" name="Shape 393"/>
        <p:cNvGrpSpPr/>
        <p:nvPr/>
      </p:nvGrpSpPr>
      <p:grpSpPr>
        <a:xfrm>
          <a:off x="0" y="0"/>
          <a:ext cx="0" cy="0"/>
          <a:chOff x="0" y="0"/>
          <a:chExt cx="0" cy="0"/>
        </a:xfrm>
      </p:grpSpPr>
      <p:pic>
        <p:nvPicPr>
          <p:cNvPr id="394" name="Google Shape;394;p3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95" name="Google Shape;395;p33" descr="image.png"/>
          <p:cNvPicPr preferRelativeResize="0"/>
          <p:nvPr/>
        </p:nvPicPr>
        <p:blipFill rotWithShape="1">
          <a:blip r:embed="rId2"/>
          <a:srcRect/>
          <a:stretch>
            <a:fillRect/>
          </a:stretch>
        </p:blipFill>
        <p:spPr>
          <a:xfrm>
            <a:off x="571500" y="2648842"/>
            <a:ext cx="5286375" cy="2381101"/>
          </a:xfrm>
          <a:prstGeom prst="rect">
            <a:avLst/>
          </a:prstGeom>
          <a:noFill/>
          <a:ln>
            <a:noFill/>
          </a:ln>
        </p:spPr>
      </p:pic>
      <p:sp>
        <p:nvSpPr>
          <p:cNvPr id="397" name="Google Shape;397;p33"/>
          <p:cNvSpPr txBox="1"/>
          <p:nvPr/>
        </p:nvSpPr>
        <p:spPr>
          <a:xfrm>
            <a:off x="571500" y="1909762"/>
            <a:ext cx="5286375"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本项目坚持核心逻辑（eBPF 探针、跨层分析引擎、归因算法等）自主研发，在数据采集阶段合法使用了以下主流开源基础库：</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98" name="Google Shape;398;p33"/>
          <p:cNvSpPr txBox="1"/>
          <p:nvPr/>
        </p:nvSpPr>
        <p:spPr>
          <a:xfrm>
            <a:off x="866775" y="2886967"/>
            <a:ext cx="4990623"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第三方组件使用声明</a:t>
            </a:r>
            <a:endParaRPr 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401" name="Google Shape;401;p33"/>
          <p:cNvSpPr txBox="1"/>
          <p:nvPr/>
        </p:nvSpPr>
        <p:spPr>
          <a:xfrm>
            <a:off x="1057275" y="3267967"/>
            <a:ext cx="4562475" cy="54858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bpftool, libbpf (BSD/GPL)：</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用于加载和管理 BPF 骨架程序，利用 CO-RE 特性。</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3" name="Google Shape;403;p33"/>
          <p:cNvSpPr txBox="1"/>
          <p:nvPr/>
        </p:nvSpPr>
        <p:spPr>
          <a:xfrm>
            <a:off x="1057275" y="3816548"/>
            <a:ext cx="4562475" cy="27429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hiredis (BSD)：</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 C 语言的 Redis 通信支持。</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5" name="Google Shape;405;p33"/>
          <p:cNvSpPr txBox="1"/>
          <p:nvPr/>
        </p:nvSpPr>
        <p:spPr>
          <a:xfrm>
            <a:off x="1057275" y="4090838"/>
            <a:ext cx="4562475" cy="54858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模型引用：</a:t>
            </a:r>
            <a:r>
              <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借鉴了 DOMINANT 异常检测的公开理论概念，算法代码与网络结构均基于本项目智能体场景自行构建。</a:t>
            </a:r>
            <a:endParaRPr 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6" name="Google Shape;406;p33"/>
          <p:cNvSpPr txBox="1"/>
          <p:nvPr/>
        </p:nvSpPr>
        <p:spPr>
          <a:xfrm>
            <a:off x="762000" y="571500"/>
            <a:ext cx="11401425"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4.3 开源组件与非本队来源说明</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407" name="Google Shape;407;p33"/>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图片 1" descr="libbpf-logo-compact-darkbg"/>
          <p:cNvPicPr>
            <a:picLocks noChangeAspect="1"/>
          </p:cNvPicPr>
          <p:nvPr/>
        </p:nvPicPr>
        <p:blipFill>
          <a:blip r:embed="rId3"/>
          <a:stretch>
            <a:fillRect/>
          </a:stretch>
        </p:blipFill>
        <p:spPr>
          <a:xfrm>
            <a:off x="6438265" y="1909445"/>
            <a:ext cx="2838450" cy="3117850"/>
          </a:xfrm>
          <a:prstGeom prst="rect">
            <a:avLst/>
          </a:prstGeom>
        </p:spPr>
      </p:pic>
      <p:pic>
        <p:nvPicPr>
          <p:cNvPr id="4" name="图片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6398" y="1909445"/>
            <a:ext cx="2836800" cy="316612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411" name="Shape 411"/>
        <p:cNvGrpSpPr/>
        <p:nvPr/>
      </p:nvGrpSpPr>
      <p:grpSpPr>
        <a:xfrm>
          <a:off x="0" y="0"/>
          <a:ext cx="0" cy="0"/>
          <a:chOff x="0" y="0"/>
          <a:chExt cx="0" cy="0"/>
        </a:xfrm>
      </p:grpSpPr>
      <p:pic>
        <p:nvPicPr>
          <p:cNvPr id="412" name="Google Shape;412;p3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413" name="Google Shape;413;p34"/>
          <p:cNvSpPr/>
          <p:nvPr/>
        </p:nvSpPr>
        <p:spPr>
          <a:xfrm>
            <a:off x="5619750" y="2574577"/>
            <a:ext cx="952500" cy="4762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14" name="Google Shape;414;p34"/>
          <p:cNvSpPr txBox="1"/>
          <p:nvPr/>
        </p:nvSpPr>
        <p:spPr>
          <a:xfrm>
            <a:off x="2795587" y="2907952"/>
            <a:ext cx="6600825" cy="692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rPr>
              <a:t>Part5.未来规划与展望</a:t>
            </a:r>
            <a:endParaRPr lang="en-US" sz="4500" b="1" i="0" u="none" strike="noStrike" cap="none">
              <a:solidFill>
                <a:srgbClr val="F3F0DF"/>
              </a:solidFill>
              <a:latin typeface="Arial" panose="020B0604020202020204"/>
              <a:ea typeface="Arial" panose="020B0604020202020204"/>
              <a:cs typeface="Arial" panose="020B0604020202020204"/>
              <a:sym typeface="Arial" panose="020B0604020202020204"/>
            </a:endParaRPr>
          </a:p>
        </p:txBody>
      </p:sp>
      <p:sp>
        <p:nvSpPr>
          <p:cNvPr id="415" name="Google Shape;415;p34"/>
          <p:cNvSpPr txBox="1"/>
          <p:nvPr/>
        </p:nvSpPr>
        <p:spPr>
          <a:xfrm>
            <a:off x="4905375" y="4060477"/>
            <a:ext cx="23812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规模化演进与特征增强</a:t>
            </a:r>
            <a:endParaRPr lang="en-US" sz="18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419" name="Shape 419"/>
        <p:cNvGrpSpPr/>
        <p:nvPr/>
      </p:nvGrpSpPr>
      <p:grpSpPr>
        <a:xfrm>
          <a:off x="0" y="0"/>
          <a:ext cx="0" cy="0"/>
          <a:chOff x="0" y="0"/>
          <a:chExt cx="0" cy="0"/>
        </a:xfrm>
      </p:grpSpPr>
      <p:pic>
        <p:nvPicPr>
          <p:cNvPr id="420" name="Google Shape;420;p35"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422" name="Google Shape;422;p35"/>
          <p:cNvSpPr txBox="1"/>
          <p:nvPr/>
        </p:nvSpPr>
        <p:spPr>
          <a:xfrm>
            <a:off x="762000" y="571500"/>
            <a:ext cx="5350668"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rPr>
              <a:t>5 </a:t>
            </a:r>
            <a:r>
              <a:rPr lang="en-US" sz="2850" b="1">
                <a:solidFill>
                  <a:srgbClr val="003366"/>
                </a:solidFill>
                <a:latin typeface="Merriweather"/>
                <a:ea typeface="Merriweather"/>
                <a:cs typeface="Merriweather"/>
                <a:sym typeface="Merriweather"/>
              </a:rPr>
              <a:t>待完成工作与优化方向</a:t>
            </a:r>
            <a:endParaRPr lang="en-US" sz="28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pic>
        <p:nvPicPr>
          <p:cNvPr id="21" name="Google Shape;362;p31" descr="image.png"/>
          <p:cNvPicPr preferRelativeResize="0"/>
          <p:nvPr/>
        </p:nvPicPr>
        <p:blipFill rotWithShape="1">
          <a:blip r:embed="rId2"/>
          <a:srcRect/>
          <a:stretch>
            <a:fillRect/>
          </a:stretch>
        </p:blipFill>
        <p:spPr>
          <a:xfrm>
            <a:off x="363220" y="1900555"/>
            <a:ext cx="11747500" cy="1602105"/>
          </a:xfrm>
          <a:prstGeom prst="rect">
            <a:avLst/>
          </a:prstGeom>
          <a:noFill/>
          <a:ln>
            <a:noFill/>
          </a:ln>
        </p:spPr>
      </p:pic>
      <p:sp>
        <p:nvSpPr>
          <p:cNvPr id="423" name="Google Shape;423;p35"/>
          <p:cNvSpPr/>
          <p:nvPr/>
        </p:nvSpPr>
        <p:spPr>
          <a:xfrm>
            <a:off x="571500" y="571500"/>
            <a:ext cx="57150" cy="48577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Google Shape;426;p35"/>
          <p:cNvSpPr txBox="1"/>
          <p:nvPr>
            <p:custDataLst>
              <p:tags r:id="rId3"/>
            </p:custDataLst>
          </p:nvPr>
        </p:nvSpPr>
        <p:spPr>
          <a:xfrm>
            <a:off x="866140" y="2362835"/>
            <a:ext cx="5316220" cy="650240"/>
          </a:xfrm>
          <a:prstGeom prst="rect">
            <a:avLst/>
          </a:prstGeom>
          <a:noFill/>
          <a:ln>
            <a:noFill/>
          </a:ln>
        </p:spPr>
        <p:txBody>
          <a:bodyPr spcFirstLastPara="1" wrap="square" lIns="0" tIns="0" rIns="0" bIns="0" anchor="t" anchorCtr="0">
            <a:noAutofit/>
          </a:bodyPr>
          <a:lstStyle/>
          <a:p>
            <a:pPr marL="0" marR="0" lvl="0" algn="l" rtl="0">
              <a:lnSpc>
                <a:spcPct val="160000"/>
              </a:lnSpc>
              <a:spcBef>
                <a:spcPts val="0"/>
              </a:spcBef>
              <a:spcAft>
                <a:spcPts val="0"/>
              </a:spcAft>
              <a:buSzTx/>
              <a:buNone/>
            </a:pPr>
            <a:r>
              <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Arial" panose="020B0604020202020204"/>
              </a:rPr>
              <a:t>Agent 适配： 扩展支持更多私有协议或闭源端侧智能体。</a:t>
            </a:r>
            <a:endPar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Arial" panose="020B0604020202020204"/>
            </a:endParaRPr>
          </a:p>
          <a:p>
            <a:pPr marL="0" marR="0" lvl="0" algn="l" rtl="0">
              <a:lnSpc>
                <a:spcPct val="160000"/>
              </a:lnSpc>
              <a:spcBef>
                <a:spcPts val="0"/>
              </a:spcBef>
              <a:spcAft>
                <a:spcPts val="0"/>
              </a:spcAft>
              <a:buSzTx/>
              <a:buNone/>
            </a:pPr>
            <a:r>
              <a:rPr lang="zh-CN" altLang="en-US" sz="1350">
                <a:solidFill>
                  <a:srgbClr val="334155"/>
                </a:solidFill>
                <a:latin typeface="Noto Sans SC" panose="020B0200000000000000" charset="-122"/>
                <a:ea typeface="Noto Sans SC" panose="020B0200000000000000" charset="-122"/>
                <a:cs typeface="Noto Sans SC" panose="020B0200000000000000" charset="-122"/>
                <a:sym typeface="Arial" panose="020B0604020202020204"/>
              </a:rPr>
              <a:t>Ring Buffer 优化： 拆分多通道提升高吞吐负载性能。</a:t>
            </a:r>
            <a:endParaRPr lang="zh-CN" altLang="en-US" sz="1350">
              <a:solidFill>
                <a:srgbClr val="334155"/>
              </a:solidFill>
              <a:latin typeface="Noto Sans SC" panose="020B0200000000000000" charset="-122"/>
              <a:ea typeface="Noto Sans SC" panose="020B0200000000000000" charset="-122"/>
              <a:cs typeface="Noto Sans SC" panose="020B0200000000000000" charset="-122"/>
              <a:sym typeface="Arial" panose="020B0604020202020204"/>
            </a:endParaRPr>
          </a:p>
          <a:p>
            <a:pPr marL="0" marR="0" lvl="0" algn="l" rtl="0">
              <a:lnSpc>
                <a:spcPct val="160000"/>
              </a:lnSpc>
              <a:spcBef>
                <a:spcPts val="0"/>
              </a:spcBef>
              <a:spcAft>
                <a:spcPts val="0"/>
              </a:spcAft>
              <a:buSzTx/>
              <a:buNone/>
            </a:pPr>
            <a:r>
              <a:rPr lang="zh-CN" altLang="en-US" sz="1350">
                <a:solidFill>
                  <a:srgbClr val="334155"/>
                </a:solidFill>
                <a:latin typeface="Noto Sans SC" panose="020B0200000000000000" charset="-122"/>
                <a:ea typeface="Noto Sans SC" panose="020B0200000000000000" charset="-122"/>
                <a:cs typeface="Noto Sans SC" panose="020B0200000000000000" charset="-122"/>
                <a:sym typeface="Arial" panose="020B0604020202020204"/>
              </a:rPr>
              <a:t>GNN 增强： 提升对隐含复杂协作关联异常的捕获能力。</a:t>
            </a:r>
            <a:endParaRPr lang="zh-CN" altLang="en-US" sz="135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Arial" panose="020B0604020202020204"/>
            </a:endParaRPr>
          </a:p>
        </p:txBody>
      </p:sp>
      <p:sp>
        <p:nvSpPr>
          <p:cNvPr id="16" name="Google Shape;426;p35"/>
          <p:cNvSpPr txBox="1"/>
          <p:nvPr>
            <p:custDataLst>
              <p:tags r:id="rId4"/>
            </p:custDataLst>
          </p:nvPr>
        </p:nvSpPr>
        <p:spPr>
          <a:xfrm>
            <a:off x="878840" y="4970145"/>
            <a:ext cx="4990465" cy="2006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pic>
        <p:nvPicPr>
          <p:cNvPr id="362" name="Google Shape;362;p31" descr="image.png"/>
          <p:cNvPicPr preferRelativeResize="0"/>
          <p:nvPr/>
        </p:nvPicPr>
        <p:blipFill rotWithShape="1">
          <a:blip r:embed="rId2"/>
          <a:srcRect/>
          <a:stretch>
            <a:fillRect/>
          </a:stretch>
        </p:blipFill>
        <p:spPr>
          <a:xfrm>
            <a:off x="363220" y="3549650"/>
            <a:ext cx="11747500" cy="2684145"/>
          </a:xfrm>
          <a:prstGeom prst="rect">
            <a:avLst/>
          </a:prstGeom>
          <a:noFill/>
          <a:ln>
            <a:noFill/>
          </a:ln>
        </p:spPr>
      </p:pic>
      <p:pic>
        <p:nvPicPr>
          <p:cNvPr id="4" name="Google Shape;421;p35" descr="image.png"/>
          <p:cNvPicPr preferRelativeResize="0"/>
          <p:nvPr>
            <p:custDataLst>
              <p:tags r:id="rId5"/>
            </p:custDataLst>
          </p:nvPr>
        </p:nvPicPr>
        <p:blipFill rotWithShape="1">
          <a:blip r:embed="rId6"/>
          <a:srcRect/>
          <a:stretch>
            <a:fillRect/>
          </a:stretch>
        </p:blipFill>
        <p:spPr>
          <a:xfrm>
            <a:off x="583565" y="4156075"/>
            <a:ext cx="3599815" cy="1834515"/>
          </a:xfrm>
          <a:prstGeom prst="rect">
            <a:avLst/>
          </a:prstGeom>
          <a:noFill/>
          <a:ln>
            <a:noFill/>
          </a:ln>
        </p:spPr>
      </p:pic>
      <p:sp>
        <p:nvSpPr>
          <p:cNvPr id="5" name="Google Shape;425;p35"/>
          <p:cNvSpPr txBox="1"/>
          <p:nvPr/>
        </p:nvSpPr>
        <p:spPr>
          <a:xfrm>
            <a:off x="570865" y="1432560"/>
            <a:ext cx="9077960" cy="393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系统架构为水平扩展预留了充足接口，未来的演进将聚焦于集群支持与特征深化。</a:t>
            </a:r>
            <a:endParaRPr lang="en-US" sz="160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Google Shape;426;p35"/>
          <p:cNvSpPr txBox="1"/>
          <p:nvPr>
            <p:custDataLst>
              <p:tags r:id="rId7"/>
            </p:custDataLst>
          </p:nvPr>
        </p:nvSpPr>
        <p:spPr>
          <a:xfrm>
            <a:off x="878840" y="4394457"/>
            <a:ext cx="4990623"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大规模</a:t>
            </a:r>
            <a:r>
              <a:rPr lang="en-US" altLang="zh-CN" sz="16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Agent</a:t>
            </a:r>
            <a:r>
              <a:rPr lang="zh-CN" altLang="en-US" sz="16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rPr>
              <a:t>拓扑</a:t>
            </a:r>
            <a:endParaRPr lang="zh-CN" altLang="en-US" sz="1650" b="1" i="0" u="none" strike="noStrike" cap="none">
              <a:solidFill>
                <a:srgbClr val="003366"/>
              </a:solidFill>
              <a:latin typeface="Arial" panose="020B0604020202020204"/>
              <a:ea typeface="宋体" panose="02010600030101010101" pitchFamily="2" charset="-122"/>
              <a:cs typeface="Arial" panose="020B0604020202020204"/>
              <a:sym typeface="Arial" panose="020B0604020202020204"/>
            </a:endParaRPr>
          </a:p>
        </p:txBody>
      </p:sp>
      <p:sp>
        <p:nvSpPr>
          <p:cNvPr id="7" name="Google Shape;427;p35"/>
          <p:cNvSpPr txBox="1"/>
          <p:nvPr>
            <p:custDataLst>
              <p:tags r:id="rId8"/>
            </p:custDataLst>
          </p:nvPr>
        </p:nvSpPr>
        <p:spPr>
          <a:xfrm>
            <a:off x="878840" y="4956175"/>
            <a:ext cx="3207385"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 </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GraphSAINT/ClusterGCN </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等采样技术，支持更大规模的 </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 </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节点监测。</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Google Shape;421;p35" descr="image.png"/>
          <p:cNvPicPr preferRelativeResize="0"/>
          <p:nvPr>
            <p:custDataLst>
              <p:tags r:id="rId9"/>
            </p:custDataLst>
          </p:nvPr>
        </p:nvPicPr>
        <p:blipFill rotWithShape="1">
          <a:blip r:embed="rId6"/>
          <a:srcRect/>
          <a:stretch>
            <a:fillRect/>
          </a:stretch>
        </p:blipFill>
        <p:spPr>
          <a:xfrm>
            <a:off x="8386445" y="4156710"/>
            <a:ext cx="3599815" cy="1833245"/>
          </a:xfrm>
          <a:prstGeom prst="rect">
            <a:avLst/>
          </a:prstGeom>
          <a:noFill/>
          <a:ln>
            <a:noFill/>
          </a:ln>
        </p:spPr>
      </p:pic>
      <p:sp>
        <p:nvSpPr>
          <p:cNvPr id="9" name="Google Shape;426;p35"/>
          <p:cNvSpPr txBox="1"/>
          <p:nvPr>
            <p:custDataLst>
              <p:tags r:id="rId10"/>
            </p:custDataLst>
          </p:nvPr>
        </p:nvSpPr>
        <p:spPr>
          <a:xfrm>
            <a:off x="8636635" y="4394457"/>
            <a:ext cx="4990623" cy="253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通信指纹识别</a:t>
            </a: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0" name="Google Shape;427;p35"/>
          <p:cNvSpPr txBox="1"/>
          <p:nvPr>
            <p:custDataLst>
              <p:tags r:id="rId11"/>
            </p:custDataLst>
          </p:nvPr>
        </p:nvSpPr>
        <p:spPr>
          <a:xfrm>
            <a:off x="8636635" y="4956175"/>
            <a:ext cx="3474085" cy="66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融合内核级 </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TCP_STATE </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细节与网络包特征，构建 </a:t>
            </a:r>
            <a:r>
              <a:rPr lang="en-US" altLang="zh-CN"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 </a:t>
            </a: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协作通信指纹库。</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Google Shape;421;p35" descr="image.png"/>
          <p:cNvPicPr preferRelativeResize="0"/>
          <p:nvPr>
            <p:custDataLst>
              <p:tags r:id="rId12"/>
            </p:custDataLst>
          </p:nvPr>
        </p:nvPicPr>
        <p:blipFill rotWithShape="1">
          <a:blip r:embed="rId6"/>
          <a:srcRect/>
          <a:stretch>
            <a:fillRect/>
          </a:stretch>
        </p:blipFill>
        <p:spPr>
          <a:xfrm>
            <a:off x="4485005" y="4149090"/>
            <a:ext cx="3599815" cy="1840865"/>
          </a:xfrm>
          <a:prstGeom prst="rect">
            <a:avLst/>
          </a:prstGeom>
          <a:noFill/>
          <a:ln>
            <a:noFill/>
          </a:ln>
        </p:spPr>
      </p:pic>
      <p:sp>
        <p:nvSpPr>
          <p:cNvPr id="18" name="Google Shape;426;p35"/>
          <p:cNvSpPr txBox="1"/>
          <p:nvPr>
            <p:custDataLst>
              <p:tags r:id="rId13"/>
            </p:custDataLst>
          </p:nvPr>
        </p:nvSpPr>
        <p:spPr>
          <a:xfrm>
            <a:off x="4780280" y="4387215"/>
            <a:ext cx="4990465" cy="2006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rPr>
              <a:t>在线贝叶斯校准</a:t>
            </a:r>
            <a:endParaRPr lang="zh-CN" altLang="en-US" sz="1650" b="1" i="0" u="none" strike="noStrike" cap="none">
              <a:solidFill>
                <a:srgbClr val="003366"/>
              </a:solidFill>
              <a:latin typeface="Arial" panose="020B0604020202020204"/>
              <a:ea typeface="Arial" panose="020B0604020202020204"/>
              <a:cs typeface="Arial" panose="020B0604020202020204"/>
              <a:sym typeface="Arial" panose="020B0604020202020204"/>
            </a:endParaRPr>
          </a:p>
        </p:txBody>
      </p:sp>
      <p:sp>
        <p:nvSpPr>
          <p:cNvPr id="19" name="Google Shape;427;p35"/>
          <p:cNvSpPr txBox="1"/>
          <p:nvPr>
            <p:custDataLst>
              <p:tags r:id="rId14"/>
            </p:custDataLst>
          </p:nvPr>
        </p:nvSpPr>
        <p:spPr>
          <a:xfrm>
            <a:off x="4780280" y="4956175"/>
            <a:ext cx="3021330" cy="52578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引入在线贝叶斯更新机制，实现在动态业务场景下的异常阈值自适应调整。</a:t>
            </a:r>
            <a:endParaRPr lang="zh-CN" altLang="en-US" sz="1350" b="0" i="0" u="none" strike="noStrike" cap="non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Google Shape;426;p35"/>
          <p:cNvSpPr txBox="1"/>
          <p:nvPr>
            <p:custDataLst>
              <p:tags r:id="rId15"/>
            </p:custDataLst>
          </p:nvPr>
        </p:nvSpPr>
        <p:spPr>
          <a:xfrm>
            <a:off x="583565" y="3699767"/>
            <a:ext cx="4990623" cy="2768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sz="1800" b="1" i="0" u="none" strike="noStrike" cap="none">
                <a:solidFill>
                  <a:srgbClr val="003366"/>
                </a:solidFill>
                <a:latin typeface="黑体" panose="02010609060101010101" charset="-122"/>
                <a:ea typeface="黑体" panose="02010609060101010101" charset="-122"/>
                <a:cs typeface="Arial" panose="020B0604020202020204"/>
                <a:sym typeface="Arial" panose="020B0604020202020204"/>
              </a:rPr>
              <a:t>优化方向</a:t>
            </a:r>
            <a:endParaRPr lang="zh-CN" sz="1800" b="1" i="0" u="none" strike="noStrike" cap="none">
              <a:solidFill>
                <a:srgbClr val="003366"/>
              </a:solidFill>
              <a:latin typeface="黑体" panose="02010609060101010101" charset="-122"/>
              <a:ea typeface="黑体" panose="02010609060101010101" charset="-122"/>
              <a:cs typeface="Arial" panose="020B0604020202020204"/>
              <a:sym typeface="Arial" panose="020B0604020202020204"/>
            </a:endParaRPr>
          </a:p>
        </p:txBody>
      </p:sp>
      <p:sp>
        <p:nvSpPr>
          <p:cNvPr id="23" name="Google Shape;426;p35"/>
          <p:cNvSpPr txBox="1"/>
          <p:nvPr>
            <p:custDataLst>
              <p:tags r:id="rId16"/>
            </p:custDataLst>
          </p:nvPr>
        </p:nvSpPr>
        <p:spPr>
          <a:xfrm>
            <a:off x="628650" y="2047497"/>
            <a:ext cx="4990623" cy="2768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sz="1800" b="1" i="0" u="none" strike="noStrike" cap="none">
                <a:solidFill>
                  <a:srgbClr val="003366"/>
                </a:solidFill>
                <a:latin typeface="黑体" panose="02010609060101010101" charset="-122"/>
                <a:ea typeface="黑体" panose="02010609060101010101" charset="-122"/>
                <a:cs typeface="Arial" panose="020B0604020202020204"/>
                <a:sym typeface="Arial" panose="020B0604020202020204"/>
              </a:rPr>
              <a:t>待完成工作</a:t>
            </a:r>
            <a:endParaRPr lang="zh-CN" sz="1800" b="1" i="0" u="none" strike="noStrike" cap="none">
              <a:solidFill>
                <a:srgbClr val="003366"/>
              </a:solidFill>
              <a:latin typeface="黑体" panose="02010609060101010101" charset="-122"/>
              <a:ea typeface="黑体" panose="02010609060101010101" charset="-122"/>
              <a:cs typeface="Arial" panose="020B0604020202020204"/>
              <a:sym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431" name="Shape 431"/>
        <p:cNvGrpSpPr/>
        <p:nvPr/>
      </p:nvGrpSpPr>
      <p:grpSpPr>
        <a:xfrm>
          <a:off x="0" y="0"/>
          <a:ext cx="0" cy="0"/>
          <a:chOff x="0" y="0"/>
          <a:chExt cx="0" cy="0"/>
        </a:xfrm>
      </p:grpSpPr>
      <p:pic>
        <p:nvPicPr>
          <p:cNvPr id="432" name="Google Shape;432;p36"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434" name="Google Shape;434;p36"/>
          <p:cNvSpPr txBox="1"/>
          <p:nvPr/>
        </p:nvSpPr>
        <p:spPr>
          <a:xfrm>
            <a:off x="571500" y="2709802"/>
            <a:ext cx="11049000" cy="787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32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感谢各位专家评委的</a:t>
            </a:r>
            <a:r>
              <a:rPr lang="zh-CN" altLang="en-US" sz="32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观看</a:t>
            </a:r>
            <a:r>
              <a:rPr lang="en-US" sz="32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3200" b="0" i="0" u="none" strike="noStrike" cap="none">
              <a:solidFill>
                <a:srgbClr val="11CA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35" name="Google Shape;435;p36"/>
          <p:cNvSpPr txBox="1"/>
          <p:nvPr/>
        </p:nvSpPr>
        <p:spPr>
          <a:xfrm>
            <a:off x="571500" y="3624173"/>
            <a:ext cx="11049000" cy="514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DAE6F0"/>
                </a:solidFill>
                <a:latin typeface="Noto Sans SC" panose="020B0200000000000000" charset="-122"/>
                <a:ea typeface="Noto Sans SC" panose="020B0200000000000000" charset="-122"/>
                <a:cs typeface="Noto Sans SC" panose="020B0200000000000000" charset="-122"/>
                <a:sym typeface="Noto Sans SC" panose="020B0200000000000000" charset="-122"/>
              </a:rPr>
              <a:t>CoreSight: 致力于构建安全透明的多智能体协作生态</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DAE6F0"/>
                </a:solidFill>
                <a:latin typeface="Noto Sans SC" panose="020B0200000000000000" charset="-122"/>
                <a:ea typeface="Noto Sans SC" panose="020B0200000000000000" charset="-122"/>
                <a:cs typeface="Noto Sans SC" panose="020B0200000000000000" charset="-122"/>
                <a:sym typeface="Noto Sans SC" panose="020B0200000000000000" charset="-122"/>
              </a:rPr>
              <a:t> 熔岩芝士烤冷面团队</a:t>
            </a:r>
            <a:endParaRPr lang="en-US" sz="1500" b="0" i="0" u="none" strike="noStrike" cap="none">
              <a:solidFill>
                <a:srgbClr val="DAE6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367.8655905511811,&quot;left&quot;:45,&quot;top&quot;:116.4,&quot;width&quot;:870}"/>
</p:tagLst>
</file>

<file path=ppt/tags/tag2.xml><?xml version="1.0" encoding="utf-8"?>
<p:tagLst xmlns:p="http://schemas.openxmlformats.org/presentationml/2006/main">
  <p:tag name="KSO_WM_DIAGRAM_VIRTUALLY_FRAME" val="{&quot;height&quot;:367.8655905511811,&quot;left&quot;:45,&quot;top&quot;:116.4,&quot;width&quot;:870}"/>
</p:tagLst>
</file>

<file path=ppt/tags/tag3.xml><?xml version="1.0" encoding="utf-8"?>
<p:tagLst xmlns:p="http://schemas.openxmlformats.org/presentationml/2006/main">
  <p:tag name="KSO_WM_DIAGRAM_VIRTUALLY_FRAME" val="{&quot;height&quot;:367.8655905511811,&quot;left&quot;:45,&quot;top&quot;:116.4,&quot;width&quot;:870}"/>
</p:tagLst>
</file>

<file path=ppt/tags/tag4.xml><?xml version="1.0" encoding="utf-8"?>
<p:tagLst xmlns:p="http://schemas.openxmlformats.org/presentationml/2006/main">
  <p:tag name="KSO_WM_DIAGRAM_VIRTUALLY_FRAME" val="{&quot;height&quot;:367.8655905511811,&quot;left&quot;:45,&quot;top&quot;:116.4,&quot;width&quot;:870}"/>
</p:tagLst>
</file>

<file path=ppt/tags/tag5.xml><?xml version="1.0" encoding="utf-8"?>
<p:tagLst xmlns:p="http://schemas.openxmlformats.org/presentationml/2006/main">
  <p:tag name="KSO_WM_DIAGRAM_VIRTUALLY_FRAME" val="{&quot;height&quot;:367.8655905511811,&quot;left&quot;:45,&quot;top&quot;:116.4,&quot;width&quot;:870}"/>
</p:tagLst>
</file>

<file path=ppt/tags/tag6.xml><?xml version="1.0" encoding="utf-8"?>
<p:tagLst xmlns:p="http://schemas.openxmlformats.org/presentationml/2006/main">
  <p:tag name="KSO_WM_DIAGRAM_VIRTUALLY_FRAME" val="{&quot;height&quot;:367.8655905511811,&quot;left&quot;:45,&quot;top&quot;:116.4,&quot;width&quot;:870}"/>
</p:tagLst>
</file>

<file path=ppt/tags/tag7.xml><?xml version="1.0" encoding="utf-8"?>
<p:tagLst xmlns:p="http://schemas.openxmlformats.org/presentationml/2006/main">
  <p:tag name="KSO_WM_DIAGRAM_VIRTUALLY_FRAME" val="{&quot;height&quot;:367.8655905511811,&quot;left&quot;:45,&quot;top&quot;:116.4,&quot;width&quot;:870}"/>
</p:tagLst>
</file>

<file path=ppt/tags/tag8.xml><?xml version="1.0" encoding="utf-8"?>
<p:tagLst xmlns:p="http://schemas.openxmlformats.org/presentationml/2006/main">
  <p:tag name="KSO_WM_DIAGRAM_VIRTUALLY_FRAME" val="{&quot;height&quot;:367.8655905511811,&quot;left&quot;:45,&quot;top&quot;:116.4,&quot;width&quot;:870}"/>
</p:tagLst>
</file>

<file path=ppt/tags/tag9.xml><?xml version="1.0" encoding="utf-8"?>
<p:tagLst xmlns:p="http://schemas.openxmlformats.org/presentationml/2006/main">
  <p:tag name="KSO_WM_DIAGRAM_VIRTUALLY_FRAME" val="{&quot;height&quot;:367.8655905511811,&quot;left&quot;:45,&quot;top&quot;:116.4,&quot;width&quot;:870}"/>
</p:tagLst>
</file>

<file path=ppt/tags/tag10.xml><?xml version="1.0" encoding="utf-8"?>
<p:tagLst xmlns:p="http://schemas.openxmlformats.org/presentationml/2006/main">
  <p:tag name="KSO_WM_DIAGRAM_VIRTUALLY_FRAME" val="{&quot;height&quot;:367.8655905511811,&quot;left&quot;:45,&quot;top&quot;:116.4,&quot;width&quot;:870}"/>
</p:tagLst>
</file>

<file path=ppt/tags/tag11.xml><?xml version="1.0" encoding="utf-8"?>
<p:tagLst xmlns:p="http://schemas.openxmlformats.org/presentationml/2006/main">
  <p:tag name="KSO_WM_DIAGRAM_VIRTUALLY_FRAME" val="{&quot;height&quot;:367.8655905511811,&quot;left&quot;:45,&quot;top&quot;:116.4,&quot;width&quot;:870}"/>
</p:tagLst>
</file>

<file path=ppt/tags/tag12.xml><?xml version="1.0" encoding="utf-8"?>
<p:tagLst xmlns:p="http://schemas.openxmlformats.org/presentationml/2006/main">
  <p:tag name="KSO_WM_DIAGRAM_VIRTUALLY_FRAME" val="{&quot;height&quot;:367.8655905511811,&quot;left&quot;:45,&quot;top&quot;:116.4,&quot;width&quot;:870}"/>
</p:tagLst>
</file>

<file path=ppt/tags/tag13.xml><?xml version="1.0" encoding="utf-8"?>
<p:tagLst xmlns:p="http://schemas.openxmlformats.org/presentationml/2006/main">
  <p:tag name="KSO_WM_DIAGRAM_VIRTUALLY_FRAME" val="{&quot;height&quot;:367.8655905511811,&quot;left&quot;:45,&quot;top&quot;:116.4,&quot;width&quot;:870}"/>
</p:tagLst>
</file>

<file path=ppt/tags/tag14.xml><?xml version="1.0" encoding="utf-8"?>
<p:tagLst xmlns:p="http://schemas.openxmlformats.org/presentationml/2006/main">
  <p:tag name="KSO_WM_DIAGRAM_VIRTUALLY_FRAME" val="{&quot;height&quot;:367.8655905511811,&quot;left&quot;:45,&quot;top&quot;:116.4,&quot;width&quot;:870}"/>
</p:tagLst>
</file>

<file path=ppt/tags/tag15.xml><?xml version="1.0" encoding="utf-8"?>
<p:tagLst xmlns:p="http://schemas.openxmlformats.org/presentationml/2006/main">
  <p:tag name="KSO_WM_DIAGRAM_VIRTUALLY_FRAME" val="{&quot;height&quot;:367.8655905511811,&quot;left&quot;:45,&quot;top&quot;:116.4,&quot;width&quot;:870}"/>
</p:tagLst>
</file>

<file path=ppt/tags/tag16.xml><?xml version="1.0" encoding="utf-8"?>
<p:tagLst xmlns:p="http://schemas.openxmlformats.org/presentationml/2006/main">
  <p:tag name="KSO_WM_DIAGRAM_VIRTUALLY_FRAME" val="{&quot;height&quot;:300.18590551181103,&quot;left&quot;:45,&quot;top&quot;:162.02496062992125,&quot;width&quot;:416.2624409448819}"/>
</p:tagLst>
</file>

<file path=ppt/tags/tag17.xml><?xml version="1.0" encoding="utf-8"?>
<p:tagLst xmlns:p="http://schemas.openxmlformats.org/presentationml/2006/main">
  <p:tag name="KSO_WM_DIAGRAM_VIRTUALLY_FRAME" val="{&quot;height&quot;:300.18590551181103,&quot;left&quot;:45,&quot;top&quot;:162.02496062992125,&quot;width&quot;:416.2624409448819}"/>
</p:tagLst>
</file>

<file path=ppt/tags/tag18.xml><?xml version="1.0" encoding="utf-8"?>
<p:tagLst xmlns:p="http://schemas.openxmlformats.org/presentationml/2006/main">
  <p:tag name="KSO_WM_DIAGRAM_VIRTUALLY_FRAME" val="{&quot;height&quot;:300.18590551181103,&quot;left&quot;:45,&quot;top&quot;:162.02496062992125,&quot;width&quot;:416.2624409448819}"/>
</p:tagLst>
</file>

<file path=ppt/tags/tag19.xml><?xml version="1.0" encoding="utf-8"?>
<p:tagLst xmlns:p="http://schemas.openxmlformats.org/presentationml/2006/main">
  <p:tag name="KSO_WM_DIAGRAM_VIRTUALLY_FRAME" val="{&quot;height&quot;:300.18590551181103,&quot;left&quot;:45,&quot;top&quot;:162.02496062992125,&quot;width&quot;:416.2624409448819}"/>
</p:tagLst>
</file>

<file path=ppt/tags/tag20.xml><?xml version="1.0" encoding="utf-8"?>
<p:tagLst xmlns:p="http://schemas.openxmlformats.org/presentationml/2006/main">
  <p:tag name="KSO_WM_DIAGRAM_VIRTUALLY_FRAME" val="{&quot;height&quot;:300.18590551181103,&quot;left&quot;:45,&quot;top&quot;:162.02496062992125,&quot;width&quot;:416.2624409448819}"/>
</p:tagLst>
</file>

<file path=ppt/tags/tag21.xml><?xml version="1.0" encoding="utf-8"?>
<p:tagLst xmlns:p="http://schemas.openxmlformats.org/presentationml/2006/main">
  <p:tag name="KSO_WM_DIAGRAM_VIRTUALLY_FRAME" val="{&quot;height&quot;:300.18590551181103,&quot;left&quot;:45,&quot;top&quot;:162.02496062992125,&quot;width&quot;:416.2624409448819}"/>
</p:tagLst>
</file>

<file path=ppt/tags/tag22.xml><?xml version="1.0" encoding="utf-8"?>
<p:tagLst xmlns:p="http://schemas.openxmlformats.org/presentationml/2006/main">
  <p:tag name="KSO_WM_DIAGRAM_VIRTUALLY_FRAME" val="{&quot;height&quot;:300.18590551181103,&quot;left&quot;:45,&quot;top&quot;:162.02496062992125,&quot;width&quot;:416.2624409448819}"/>
</p:tagLst>
</file>

<file path=ppt/tags/tag23.xml><?xml version="1.0" encoding="utf-8"?>
<p:tagLst xmlns:p="http://schemas.openxmlformats.org/presentationml/2006/main">
  <p:tag name="KSO_WM_DIAGRAM_VIRTUALLY_FRAME" val="{&quot;height&quot;:230.39055118110232,&quot;left&quot;:45,&quot;top&quot;:203.47259842519685,&quot;width&quot;:870.0116535433069}"/>
</p:tagLst>
</file>

<file path=ppt/tags/tag24.xml><?xml version="1.0" encoding="utf-8"?>
<p:tagLst xmlns:p="http://schemas.openxmlformats.org/presentationml/2006/main">
  <p:tag name="KSO_WM_DIAGRAM_VIRTUALLY_FRAME" val="{&quot;height&quot;:230.39055118110232,&quot;left&quot;:45,&quot;top&quot;:203.47259842519685,&quot;width&quot;:870.0116535433069}"/>
</p:tagLst>
</file>

<file path=ppt/tags/tag25.xml><?xml version="1.0" encoding="utf-8"?>
<p:tagLst xmlns:p="http://schemas.openxmlformats.org/presentationml/2006/main">
  <p:tag name="KSO_WM_DIAGRAM_VIRTUALLY_FRAME" val="{&quot;height&quot;:230.39055118110232,&quot;left&quot;:45,&quot;top&quot;:203.47259842519685,&quot;width&quot;:870.0116535433069}"/>
</p:tagLst>
</file>

<file path=ppt/tags/tag26.xml><?xml version="1.0" encoding="utf-8"?>
<p:tagLst xmlns:p="http://schemas.openxmlformats.org/presentationml/2006/main">
  <p:tag name="KSO_WM_DIAGRAM_VIRTUALLY_FRAME" val="{&quot;height&quot;:230.39055118110232,&quot;left&quot;:45,&quot;top&quot;:203.47259842519685,&quot;width&quot;:870.0116535433069}"/>
</p:tagLst>
</file>

<file path=ppt/tags/tag27.xml><?xml version="1.0" encoding="utf-8"?>
<p:tagLst xmlns:p="http://schemas.openxmlformats.org/presentationml/2006/main">
  <p:tag name="KSO_WM_DIAGRAM_VIRTUALLY_FRAME" val="{&quot;height&quot;:230.39055118110232,&quot;left&quot;:45,&quot;top&quot;:203.47259842519685,&quot;width&quot;:870.0116535433069}"/>
</p:tagLst>
</file>

<file path=ppt/tags/tag28.xml><?xml version="1.0" encoding="utf-8"?>
<p:tagLst xmlns:p="http://schemas.openxmlformats.org/presentationml/2006/main">
  <p:tag name="KSO_WM_DIAGRAM_VIRTUALLY_FRAME" val="{&quot;height&quot;:230.39055118110232,&quot;left&quot;:45,&quot;top&quot;:203.47259842519685,&quot;width&quot;:870.0116535433069}"/>
</p:tagLst>
</file>

<file path=ppt/tags/tag29.xml><?xml version="1.0" encoding="utf-8"?>
<p:tagLst xmlns:p="http://schemas.openxmlformats.org/presentationml/2006/main">
  <p:tag name="KSO_WM_DIAGRAM_VIRTUALLY_FRAME" val="{&quot;height&quot;:230.39055118110232,&quot;left&quot;:45,&quot;top&quot;:203.47259842519685,&quot;width&quot;:870.0116535433069}"/>
</p:tagLst>
</file>

<file path=ppt/tags/tag30.xml><?xml version="1.0" encoding="utf-8"?>
<p:tagLst xmlns:p="http://schemas.openxmlformats.org/presentationml/2006/main">
  <p:tag name="KSO_WM_DIAGRAM_VIRTUALLY_FRAME" val="{&quot;height&quot;:230.39055118110232,&quot;left&quot;:45,&quot;top&quot;:203.47259842519685,&quot;width&quot;:870.0116535433069}"/>
</p:tagLst>
</file>

<file path=ppt/tags/tag31.xml><?xml version="1.0" encoding="utf-8"?>
<p:tagLst xmlns:p="http://schemas.openxmlformats.org/presentationml/2006/main">
  <p:tag name="KSO_WM_DIAGRAM_VIRTUALLY_FRAME" val="{&quot;height&quot;:230.39055118110232,&quot;left&quot;:45,&quot;top&quot;:203.47259842519685,&quot;width&quot;:870.0116535433069}"/>
</p:tagLst>
</file>

<file path=ppt/tags/tag32.xml><?xml version="1.0" encoding="utf-8"?>
<p:tagLst xmlns:p="http://schemas.openxmlformats.org/presentationml/2006/main">
  <p:tag name="KSO_WM_DIAGRAM_VIRTUALLY_FRAME" val="{&quot;height&quot;:230.39055118110232,&quot;left&quot;:45,&quot;top&quot;:203.47259842519685,&quot;width&quot;:870.0116535433069}"/>
</p:tagLst>
</file>

<file path=ppt/tags/tag33.xml><?xml version="1.0" encoding="utf-8"?>
<p:tagLst xmlns:p="http://schemas.openxmlformats.org/presentationml/2006/main">
  <p:tag name="KSO_WM_DIAGRAM_VIRTUALLY_FRAME" val="{&quot;height&quot;:230.39055118110232,&quot;left&quot;:45,&quot;top&quot;:203.47259842519685,&quot;width&quot;:870.0116535433069}"/>
</p:tagLst>
</file>

<file path=ppt/tags/tag34.xml><?xml version="1.0" encoding="utf-8"?>
<p:tagLst xmlns:p="http://schemas.openxmlformats.org/presentationml/2006/main">
  <p:tag name="KSO_WM_DIAGRAM_VIRTUALLY_FRAME" val="{&quot;height&quot;:230.39055118110232,&quot;left&quot;:45,&quot;top&quot;:203.47259842519685,&quot;width&quot;:870.0116535433069}"/>
</p:tagLst>
</file>

<file path=ppt/tags/tag35.xml><?xml version="1.0" encoding="utf-8"?>
<p:tagLst xmlns:p="http://schemas.openxmlformats.org/presentationml/2006/main">
  <p:tag name="KSO_WM_DIAGRAM_VIRTUALLY_FRAME" val="{&quot;height&quot;:205.44055118110236,&quot;left&quot;:45,&quot;top&quot;:193.7,&quot;width&quot;:869.9999212598425}"/>
</p:tagLst>
</file>

<file path=ppt/tags/tag36.xml><?xml version="1.0" encoding="utf-8"?>
<p:tagLst xmlns:p="http://schemas.openxmlformats.org/presentationml/2006/main">
  <p:tag name="KSO_WM_DIAGRAM_VIRTUALLY_FRAME" val="{&quot;height&quot;:205.44055118110236,&quot;left&quot;:45,&quot;top&quot;:193.7,&quot;width&quot;:869.9999212598425}"/>
</p:tagLst>
</file>

<file path=ppt/tags/tag37.xml><?xml version="1.0" encoding="utf-8"?>
<p:tagLst xmlns:p="http://schemas.openxmlformats.org/presentationml/2006/main">
  <p:tag name="KSO_WM_DIAGRAM_VIRTUALLY_FRAME" val="{&quot;height&quot;:205.44055118110236,&quot;left&quot;:45,&quot;top&quot;:193.7,&quot;width&quot;:869.9999212598425}"/>
</p:tagLst>
</file>

<file path=ppt/tags/tag38.xml><?xml version="1.0" encoding="utf-8"?>
<p:tagLst xmlns:p="http://schemas.openxmlformats.org/presentationml/2006/main">
  <p:tag name="KSO_WM_DIAGRAM_VIRTUALLY_FRAME" val="{&quot;height&quot;:205.44055118110236,&quot;left&quot;:45,&quot;top&quot;:193.7,&quot;width&quot;:869.9999212598425}"/>
</p:tagLst>
</file>

<file path=ppt/tags/tag39.xml><?xml version="1.0" encoding="utf-8"?>
<p:tagLst xmlns:p="http://schemas.openxmlformats.org/presentationml/2006/main">
  <p:tag name="KSO_WM_DIAGRAM_VIRTUALLY_FRAME" val="{&quot;height&quot;:205.44055118110236,&quot;left&quot;:45,&quot;top&quot;:193.7,&quot;width&quot;:869.9999212598425}"/>
</p:tagLst>
</file>

<file path=ppt/tags/tag40.xml><?xml version="1.0" encoding="utf-8"?>
<p:tagLst xmlns:p="http://schemas.openxmlformats.org/presentationml/2006/main">
  <p:tag name="KSO_WM_DIAGRAM_VIRTUALLY_FRAME" val="{&quot;height&quot;:205.44055118110236,&quot;left&quot;:45,&quot;top&quot;:193.7,&quot;width&quot;:869.9999212598425}"/>
</p:tagLst>
</file>

<file path=ppt/tags/tag41.xml><?xml version="1.0" encoding="utf-8"?>
<p:tagLst xmlns:p="http://schemas.openxmlformats.org/presentationml/2006/main">
  <p:tag name="KSO_WM_DIAGRAM_VIRTUALLY_FRAME" val="{&quot;height&quot;:205.44055118110236,&quot;left&quot;:45,&quot;top&quot;:193.7,&quot;width&quot;:869.9999212598425}"/>
</p:tagLst>
</file>

<file path=ppt/tags/tag42.xml><?xml version="1.0" encoding="utf-8"?>
<p:tagLst xmlns:p="http://schemas.openxmlformats.org/presentationml/2006/main">
  <p:tag name="KSO_WM_DIAGRAM_VIRTUALLY_FRAME" val="{&quot;height&quot;:205.44055118110236,&quot;left&quot;:45,&quot;top&quot;:193.7,&quot;width&quot;:869.9999212598425}"/>
</p:tagLst>
</file>

<file path=ppt/tags/tag43.xml><?xml version="1.0" encoding="utf-8"?>
<p:tagLst xmlns:p="http://schemas.openxmlformats.org/presentationml/2006/main">
  <p:tag name="KSO_WM_DIAGRAM_VIRTUALLY_FRAME" val="{&quot;height&quot;:205.44055118110236,&quot;left&quot;:45,&quot;top&quot;:193.7,&quot;width&quot;:869.9999212598425}"/>
</p:tagLst>
</file>

<file path=ppt/tags/tag44.xml><?xml version="1.0" encoding="utf-8"?>
<p:tagLst xmlns:p="http://schemas.openxmlformats.org/presentationml/2006/main">
  <p:tag name="KSO_WM_DIAGRAM_VIRTUALLY_FRAME" val="{&quot;height&quot;:205.44055118110236,&quot;left&quot;:45,&quot;top&quot;:193.7,&quot;width&quot;:869.9999212598425}"/>
</p:tagLst>
</file>

<file path=ppt/tags/tag45.xml><?xml version="1.0" encoding="utf-8"?>
<p:tagLst xmlns:p="http://schemas.openxmlformats.org/presentationml/2006/main">
  <p:tag name="KSO_WM_DIAGRAM_VIRTUALLY_FRAME" val="{&quot;height&quot;:205.44055118110236,&quot;left&quot;:45,&quot;top&quot;:193.7,&quot;width&quot;:869.9999212598425}"/>
</p:tagLst>
</file>

<file path=ppt/tags/tag46.xml><?xml version="1.0" encoding="utf-8"?>
<p:tagLst xmlns:p="http://schemas.openxmlformats.org/presentationml/2006/main">
  <p:tag name="KSO_WM_DIAGRAM_VIRTUALLY_FRAME" val="{&quot;height&quot;:205.44055118110236,&quot;left&quot;:45,&quot;top&quot;:193.7,&quot;width&quot;:869.9999212598425}"/>
</p:tagLst>
</file>

<file path=ppt/tags/tag47.xml><?xml version="1.0" encoding="utf-8"?>
<p:tagLst xmlns:p="http://schemas.openxmlformats.org/presentationml/2006/main">
  <p:tag name="KSO_WM_DIAGRAM_VIRTUALLY_FRAME" val="{&quot;height&quot;:205.44055118110236,&quot;left&quot;:45,&quot;top&quot;:193.7,&quot;width&quot;:869.9999212598425}"/>
</p:tagLst>
</file>

<file path=ppt/tags/tag48.xml><?xml version="1.0" encoding="utf-8"?>
<p:tagLst xmlns:p="http://schemas.openxmlformats.org/presentationml/2006/main">
  <p:tag name="KSO_WM_DIAGRAM_VIRTUALLY_FRAME" val="{&quot;height&quot;:205.44055118110236,&quot;left&quot;:45,&quot;top&quot;:193.7,&quot;width&quot;:869.9999212598425}"/>
</p:tagLst>
</file>

<file path=ppt/tags/tag49.xml><?xml version="1.0" encoding="utf-8"?>
<p:tagLst xmlns:p="http://schemas.openxmlformats.org/presentationml/2006/main">
  <p:tag name="KSO_WM_DIAGRAM_VIRTUALLY_FRAME" val="{&quot;height&quot;:205.44055118110236,&quot;left&quot;:45,&quot;top&quot;:193.7,&quot;width&quot;:869.9999212598425}"/>
</p:tagLst>
</file>

<file path=ppt/tags/tag50.xml><?xml version="1.0" encoding="utf-8"?>
<p:tagLst xmlns:p="http://schemas.openxmlformats.org/presentationml/2006/main">
  <p:tag name="KSO_WM_DIAGRAM_VIRTUALLY_FRAME" val="{&quot;height&quot;:205.44055118110236,&quot;left&quot;:45,&quot;top&quot;:193.7,&quot;width&quot;:869.9999212598425}"/>
</p:tagLst>
</file>

<file path=ppt/tags/tag51.xml><?xml version="1.0" encoding="utf-8"?>
<p:tagLst xmlns:p="http://schemas.openxmlformats.org/presentationml/2006/main">
  <p:tag name="KSO_WM_DIAGRAM_VIRTUALLY_FRAME" val="{&quot;height&quot;:205.44055118110236,&quot;left&quot;:45,&quot;top&quot;:193.7,&quot;width&quot;:869.9999212598425}"/>
</p:tagLst>
</file>

<file path=ppt/tags/tag52.xml><?xml version="1.0" encoding="utf-8"?>
<p:tagLst xmlns:p="http://schemas.openxmlformats.org/presentationml/2006/main">
  <p:tag name="KSO_WM_DIAGRAM_VIRTUALLY_FRAME" val="{&quot;height&quot;:205.44055118110236,&quot;left&quot;:45,&quot;top&quot;:193.7,&quot;width&quot;:869.9999212598425}"/>
</p:tagLst>
</file>

<file path=ppt/tags/tag53.xml><?xml version="1.0" encoding="utf-8"?>
<p:tagLst xmlns:p="http://schemas.openxmlformats.org/presentationml/2006/main">
  <p:tag name="KSO_WM_DIAGRAM_VIRTUALLY_FRAME" val="{&quot;height&quot;:205.44055118110236,&quot;left&quot;:45,&quot;top&quot;:193.7,&quot;width&quot;:869.9999212598425}"/>
</p:tagLst>
</file>

<file path=ppt/tags/tag54.xml><?xml version="1.0" encoding="utf-8"?>
<p:tagLst xmlns:p="http://schemas.openxmlformats.org/presentationml/2006/main">
  <p:tag name="KSO_DOCER_RESOURCE_TRACE_INFO" val="{&quot;id&quot;:&quot;20090618&quot;,&quot;origin&quot;:0,&quot;type&quot;:&quot;icons&quot;,&quot;user&quot;:&quot;1214595382&quot;}"/>
</p:tagLst>
</file>

<file path=ppt/tags/tag55.xml><?xml version="1.0" encoding="utf-8"?>
<p:tagLst xmlns:p="http://schemas.openxmlformats.org/presentationml/2006/main">
  <p:tag name="KSO_WM_DIAGRAM_VIRTUALLY_FRAME" val="{&quot;height&quot;:392.45,&quot;left&quot;:45,&quot;top&quot;:125.65,&quot;width&quot;:896.2}"/>
</p:tagLst>
</file>

<file path=ppt/tags/tag56.xml><?xml version="1.0" encoding="utf-8"?>
<p:tagLst xmlns:p="http://schemas.openxmlformats.org/presentationml/2006/main">
  <p:tag name="KSO_WM_DIAGRAM_VIRTUALLY_FRAME" val="{&quot;height&quot;:300.18590551181103,&quot;left&quot;:45,&quot;top&quot;:162.02496062992125,&quot;width&quot;:416.2624409448819}"/>
</p:tagLst>
</file>

<file path=ppt/tags/tag57.xml><?xml version="1.0" encoding="utf-8"?>
<p:tagLst xmlns:p="http://schemas.openxmlformats.org/presentationml/2006/main">
  <p:tag name="KSO_WM_DIAGRAM_VIRTUALLY_FRAME" val="{&quot;height&quot;:392.45,&quot;left&quot;:45,&quot;top&quot;:125.65,&quot;width&quot;:896.2}"/>
</p:tagLst>
</file>

<file path=ppt/tags/tag58.xml><?xml version="1.0" encoding="utf-8"?>
<p:tagLst xmlns:p="http://schemas.openxmlformats.org/presentationml/2006/main">
  <p:tag name="KSO_WM_DIAGRAM_VIRTUALLY_FRAME" val="{&quot;height&quot;:392.45,&quot;left&quot;:45,&quot;top&quot;:125.65,&quot;width&quot;:896.2}"/>
</p:tagLst>
</file>

<file path=ppt/tags/tag59.xml><?xml version="1.0" encoding="utf-8"?>
<p:tagLst xmlns:p="http://schemas.openxmlformats.org/presentationml/2006/main">
  <p:tag name="KSO_WM_DIAGRAM_VIRTUALLY_FRAME" val="{&quot;height&quot;:392.45,&quot;left&quot;:45,&quot;top&quot;:125.65,&quot;width&quot;:896.2}"/>
</p:tagLst>
</file>

<file path=ppt/tags/tag60.xml><?xml version="1.0" encoding="utf-8"?>
<p:tagLst xmlns:p="http://schemas.openxmlformats.org/presentationml/2006/main">
  <p:tag name="KSO_WM_DIAGRAM_VIRTUALLY_FRAME" val="{&quot;height&quot;:392.45,&quot;left&quot;:45,&quot;top&quot;:125.65,&quot;width&quot;:896.2}"/>
</p:tagLst>
</file>

<file path=ppt/tags/tag61.xml><?xml version="1.0" encoding="utf-8"?>
<p:tagLst xmlns:p="http://schemas.openxmlformats.org/presentationml/2006/main">
  <p:tag name="KSO_WM_DIAGRAM_VIRTUALLY_FRAME" val="{&quot;height&quot;:392.45,&quot;left&quot;:45,&quot;top&quot;:125.65,&quot;width&quot;:896.2}"/>
</p:tagLst>
</file>

<file path=ppt/tags/tag62.xml><?xml version="1.0" encoding="utf-8"?>
<p:tagLst xmlns:p="http://schemas.openxmlformats.org/presentationml/2006/main">
  <p:tag name="KSO_WM_DIAGRAM_VIRTUALLY_FRAME" val="{&quot;height&quot;:392.45,&quot;left&quot;:45,&quot;top&quot;:125.65,&quot;width&quot;:896.2}"/>
</p:tagLst>
</file>

<file path=ppt/tags/tag63.xml><?xml version="1.0" encoding="utf-8"?>
<p:tagLst xmlns:p="http://schemas.openxmlformats.org/presentationml/2006/main">
  <p:tag name="KSO_WM_DIAGRAM_VIRTUALLY_FRAME" val="{&quot;height&quot;:300.18590551181103,&quot;left&quot;:45,&quot;top&quot;:162.02496062992125,&quot;width&quot;:416.2624409448819}"/>
</p:tagLst>
</file>

<file path=ppt/tags/tag64.xml><?xml version="1.0" encoding="utf-8"?>
<p:tagLst xmlns:p="http://schemas.openxmlformats.org/presentationml/2006/main">
  <p:tag name="KSO_WM_DIAGRAM_VIRTUALLY_FRAME" val="{&quot;height&quot;:392.45,&quot;left&quot;:45,&quot;top&quot;:125.65,&quot;width&quot;:896.2}"/>
</p:tagLst>
</file>

<file path=ppt/tags/tag65.xml><?xml version="1.0" encoding="utf-8"?>
<p:tagLst xmlns:p="http://schemas.openxmlformats.org/presentationml/2006/main">
  <p:tag name="KSO_WM_DIAGRAM_VIRTUALLY_FRAME" val="{&quot;height&quot;:392.45,&quot;left&quot;:45,&quot;top&quot;:125.65,&quot;width&quot;:896.2}"/>
</p:tagLst>
</file>

<file path=ppt/tags/tag66.xml><?xml version="1.0" encoding="utf-8"?>
<p:tagLst xmlns:p="http://schemas.openxmlformats.org/presentationml/2006/main">
  <p:tag name="KSO_WM_DIAGRAM_VIRTUALLY_FRAME" val="{&quot;height&quot;:392.45,&quot;left&quot;:45,&quot;top&quot;:125.65,&quot;width&quot;:896.2}"/>
</p:tagLst>
</file>

<file path=ppt/tags/tag67.xml><?xml version="1.0" encoding="utf-8"?>
<p:tagLst xmlns:p="http://schemas.openxmlformats.org/presentationml/2006/main">
  <p:tag name="KSO_WM_DIAGRAM_VIRTUALLY_FRAME" val="{&quot;height&quot;:392.45,&quot;left&quot;:45,&quot;top&quot;:125.65,&quot;width&quot;:896.2}"/>
</p:tagLst>
</file>

<file path=ppt/tags/tag68.xml><?xml version="1.0" encoding="utf-8"?>
<p:tagLst xmlns:p="http://schemas.openxmlformats.org/presentationml/2006/main">
  <p:tag name="KSO_WM_DIAGRAM_VIRTUALLY_FRAME" val="{&quot;height&quot;:392.45,&quot;left&quot;:45,&quot;top&quot;:125.65,&quot;width&quot;:896.2}"/>
</p:tagLst>
</file>

<file path=ppt/tags/tag69.xml><?xml version="1.0" encoding="utf-8"?>
<p:tagLst xmlns:p="http://schemas.openxmlformats.org/presentationml/2006/main">
  <p:tag name="KSO_WM_DIAGRAM_VIRTUALLY_FRAME" val="{&quot;height&quot;:392.45,&quot;left&quot;:45,&quot;top&quot;:125.65,&quot;width&quot;:896.2}"/>
</p:tagLst>
</file>

<file path=ppt/tags/tag70.xml><?xml version="1.0" encoding="utf-8"?>
<p:tagLst xmlns:p="http://schemas.openxmlformats.org/presentationml/2006/main">
  <p:tag name="KSO_WM_DIAGRAM_VIRTUALLY_FRAME" val="{&quot;height&quot;:392.45,&quot;left&quot;:45,&quot;top&quot;:125.65,&quot;width&quot;:896.2}"/>
</p:tagLst>
</file>

<file path=ppt/tags/tag71.xml><?xml version="1.0" encoding="utf-8"?>
<p:tagLst xmlns:p="http://schemas.openxmlformats.org/presentationml/2006/main">
  <p:tag name="KSO_WM_DIAGRAM_VIRTUALLY_FRAME" val="{&quot;height&quot;:392.45,&quot;left&quot;:45,&quot;top&quot;:125.65,&quot;width&quot;:896.2}"/>
</p:tagLst>
</file>

<file path=ppt/tags/tag72.xml><?xml version="1.0" encoding="utf-8"?>
<p:tagLst xmlns:p="http://schemas.openxmlformats.org/presentationml/2006/main">
  <p:tag name="KSO_WM_DIAGRAM_VIRTUALLY_FRAME" val="{&quot;height&quot;:392.45,&quot;left&quot;:45,&quot;top&quot;:125.65,&quot;width&quot;:896.2}"/>
</p:tagLst>
</file>

<file path=ppt/tags/tag73.xml><?xml version="1.0" encoding="utf-8"?>
<p:tagLst xmlns:p="http://schemas.openxmlformats.org/presentationml/2006/main">
  <p:tag name="KSO_WM_DIAGRAM_VIRTUALLY_FRAME" val="{&quot;height&quot;:392.45,&quot;left&quot;:45,&quot;top&quot;:125.65,&quot;width&quot;:896.2}"/>
</p:tagLst>
</file>

<file path=ppt/tags/tag74.xml><?xml version="1.0" encoding="utf-8"?>
<p:tagLst xmlns:p="http://schemas.openxmlformats.org/presentationml/2006/main">
  <p:tag name="KSO_WM_DIAGRAM_VIRTUALLY_FRAME" val="{&quot;height&quot;:392.45,&quot;left&quot;:45,&quot;top&quot;:125.65,&quot;width&quot;:896.2}"/>
</p:tagLst>
</file>

<file path=ppt/tags/tag75.xml><?xml version="1.0" encoding="utf-8"?>
<p:tagLst xmlns:p="http://schemas.openxmlformats.org/presentationml/2006/main">
  <p:tag name="KSO_WM_DIAGRAM_VIRTUALLY_FRAME" val="{&quot;height&quot;:208.7929133858267,&quot;left&quot;:45,&quot;top&quot;:214.27732283464564,&quot;width&quot;:870.0116535433069}"/>
</p:tagLst>
</file>

<file path=ppt/tags/tag76.xml><?xml version="1.0" encoding="utf-8"?>
<p:tagLst xmlns:p="http://schemas.openxmlformats.org/presentationml/2006/main">
  <p:tag name="KSO_WM_DIAGRAM_VIRTUALLY_FRAME" val="{&quot;height&quot;:208.7929133858267,&quot;left&quot;:45,&quot;top&quot;:214.27732283464564,&quot;width&quot;:870.0116535433069}"/>
</p:tagLst>
</file>

<file path=ppt/tags/tag77.xml><?xml version="1.0" encoding="utf-8"?>
<p:tagLst xmlns:p="http://schemas.openxmlformats.org/presentationml/2006/main">
  <p:tag name="KSO_WM_DIAGRAM_VIRTUALLY_FRAME" val="{&quot;height&quot;:208.7929133858267,&quot;left&quot;:45,&quot;top&quot;:214.27732283464564,&quot;width&quot;:870.0116535433069}"/>
</p:tagLst>
</file>

<file path=ppt/tags/tag78.xml><?xml version="1.0" encoding="utf-8"?>
<p:tagLst xmlns:p="http://schemas.openxmlformats.org/presentationml/2006/main">
  <p:tag name="KSO_WM_DIAGRAM_VIRTUALLY_FRAME" val="{&quot;height&quot;:208.7929133858267,&quot;left&quot;:45,&quot;top&quot;:214.27732283464564,&quot;width&quot;:870.0116535433069}"/>
</p:tagLst>
</file>

<file path=ppt/tags/tag79.xml><?xml version="1.0" encoding="utf-8"?>
<p:tagLst xmlns:p="http://schemas.openxmlformats.org/presentationml/2006/main">
  <p:tag name="KSO_WM_DIAGRAM_VIRTUALLY_FRAME" val="{&quot;height&quot;:208.7929133858267,&quot;left&quot;:45,&quot;top&quot;:214.27732283464564,&quot;width&quot;:870.0116535433069}"/>
</p:tagLst>
</file>

<file path=ppt/tags/tag80.xml><?xml version="1.0" encoding="utf-8"?>
<p:tagLst xmlns:p="http://schemas.openxmlformats.org/presentationml/2006/main">
  <p:tag name="KSO_WM_DIAGRAM_VIRTUALLY_FRAME" val="{&quot;height&quot;:208.7929133858267,&quot;left&quot;:45,&quot;top&quot;:214.27732283464564,&quot;width&quot;:870.0116535433069}"/>
</p:tagLst>
</file>

<file path=ppt/tags/tag81.xml><?xml version="1.0" encoding="utf-8"?>
<p:tagLst xmlns:p="http://schemas.openxmlformats.org/presentationml/2006/main">
  <p:tag name="KSO_WM_DIAGRAM_VIRTUALLY_FRAME" val="{&quot;height&quot;:208.7929133858267,&quot;left&quot;:45,&quot;top&quot;:214.27732283464564,&quot;width&quot;:870.0116535433069}"/>
</p:tagLst>
</file>

<file path=ppt/tags/tag82.xml><?xml version="1.0" encoding="utf-8"?>
<p:tagLst xmlns:p="http://schemas.openxmlformats.org/presentationml/2006/main">
  <p:tag name="KSO_WM_DIAGRAM_VIRTUALLY_FRAME" val="{&quot;height&quot;:208.7929133858267,&quot;left&quot;:45,&quot;top&quot;:214.27732283464564,&quot;width&quot;:870.0116535433069}"/>
</p:tagLst>
</file>

<file path=ppt/tags/tag83.xml><?xml version="1.0" encoding="utf-8"?>
<p:tagLst xmlns:p="http://schemas.openxmlformats.org/presentationml/2006/main">
  <p:tag name="KSO_WM_DIAGRAM_VIRTUALLY_FRAME" val="{&quot;height&quot;:208.7929133858267,&quot;left&quot;:45,&quot;top&quot;:214.27732283464564,&quot;width&quot;:870.0116535433069}"/>
</p:tagLst>
</file>

<file path=ppt/tags/tag84.xml><?xml version="1.0" encoding="utf-8"?>
<p:tagLst xmlns:p="http://schemas.openxmlformats.org/presentationml/2006/main">
  <p:tag name="KSO_WM_DIAGRAM_VIRTUALLY_FRAME" val="{&quot;height&quot;:208.7929133858267,&quot;left&quot;:45,&quot;top&quot;:214.27732283464564,&quot;width&quot;:870.0116535433069}"/>
</p:tagLst>
</file>

<file path=ppt/tags/tag85.xml><?xml version="1.0" encoding="utf-8"?>
<p:tagLst xmlns:p="http://schemas.openxmlformats.org/presentationml/2006/main">
  <p:tag name="KSO_WM_DIAGRAM_VIRTUALLY_FRAME" val="{&quot;height&quot;:208.7929133858267,&quot;left&quot;:45,&quot;top&quot;:214.27732283464564,&quot;width&quot;:870.0116535433069}"/>
</p:tagLst>
</file>

<file path=ppt/tags/tag86.xml><?xml version="1.0" encoding="utf-8"?>
<p:tagLst xmlns:p="http://schemas.openxmlformats.org/presentationml/2006/main">
  <p:tag name="KSO_WM_DIAGRAM_VIRTUALLY_FRAME" val="{&quot;height&quot;:208.7929133858267,&quot;left&quot;:45,&quot;top&quot;:214.27732283464564,&quot;width&quot;:870.0116535433069}"/>
</p:tagLst>
</file>

<file path=ppt/tags/tag87.xml><?xml version="1.0" encoding="utf-8"?>
<p:tagLst xmlns:p="http://schemas.openxmlformats.org/presentationml/2006/main">
  <p:tag name="KSO_WM_DIAGRAM_VIRTUALLY_FRAME" val="{&quot;height&quot;:348.65,&quot;left&quot;:69.75,&quot;top&quot;:118.22496062992124,&quot;width&quot;:486}"/>
</p:tagLst>
</file>

<file path=ppt/tags/tag88.xml><?xml version="1.0" encoding="utf-8"?>
<p:tagLst xmlns:p="http://schemas.openxmlformats.org/presentationml/2006/main">
  <p:tag name="KSO_WM_DIAGRAM_VIRTUALLY_FRAME" val="{&quot;height&quot;:348.65,&quot;left&quot;:69.75,&quot;top&quot;:118.22496062992124,&quot;width&quot;:486}"/>
</p:tagLst>
</file>

<file path=ppt/tags/tag89.xml><?xml version="1.0" encoding="utf-8"?>
<p:tagLst xmlns:p="http://schemas.openxmlformats.org/presentationml/2006/main">
  <p:tag name="KSO_WM_DIAGRAM_VIRTUALLY_FRAME" val="{&quot;height&quot;:348.65,&quot;left&quot;:69.75,&quot;top&quot;:118.22496062992124,&quot;width&quot;:486}"/>
</p:tagLst>
</file>

<file path=ppt/tags/tag90.xml><?xml version="1.0" encoding="utf-8"?>
<p:tagLst xmlns:p="http://schemas.openxmlformats.org/presentationml/2006/main">
  <p:tag name="KSO_WM_DIAGRAM_VIRTUALLY_FRAME" val="{&quot;height&quot;:348.65,&quot;left&quot;:69.75,&quot;top&quot;:118.22496062992124,&quot;width&quot;:486}"/>
</p:tagLst>
</file>

<file path=ppt/tags/tag91.xml><?xml version="1.0" encoding="utf-8"?>
<p:tagLst xmlns:p="http://schemas.openxmlformats.org/presentationml/2006/main">
  <p:tag name="KSO_WM_DIAGRAM_VIRTUALLY_FRAME" val="{&quot;height&quot;:348.65,&quot;left&quot;:69.75,&quot;top&quot;:118.22496062992124,&quot;width&quot;:486}"/>
</p:tagLst>
</file>

<file path=ppt/tags/tag92.xml><?xml version="1.0" encoding="utf-8"?>
<p:tagLst xmlns:p="http://schemas.openxmlformats.org/presentationml/2006/main">
  <p:tag name="KSO_WM_DIAGRAM_VIRTUALLY_FRAME" val="{&quot;height&quot;:348.65,&quot;left&quot;:69.75,&quot;top&quot;:118.22496062992124,&quot;width&quot;:486}"/>
</p:tagLst>
</file>

<file path=ppt/tags/tag93.xml><?xml version="1.0" encoding="utf-8"?>
<p:tagLst xmlns:p="http://schemas.openxmlformats.org/presentationml/2006/main">
  <p:tag name="KSO_WM_DIAGRAM_VIRTUALLY_FRAME" val="{&quot;height&quot;:348.65,&quot;left&quot;:69.75,&quot;top&quot;:118.22496062992124,&quot;width&quot;:486}"/>
</p:tagLst>
</file>

<file path=ppt/tags/tag94.xml><?xml version="1.0" encoding="utf-8"?>
<p:tagLst xmlns:p="http://schemas.openxmlformats.org/presentationml/2006/main">
  <p:tag name="KSO_WM_DIAGRAM_VIRTUALLY_FRAME" val="{&quot;height&quot;:348.65,&quot;left&quot;:69.75,&quot;top&quot;:118.22496062992124,&quot;width&quot;:486}"/>
</p:tagLst>
</file>

<file path=ppt/tags/tag95.xml><?xml version="1.0" encoding="utf-8"?>
<p:tagLst xmlns:p="http://schemas.openxmlformats.org/presentationml/2006/main">
  <p:tag name="KSO_WM_DIAGRAM_VIRTUALLY_FRAME" val="{&quot;height&quot;:73.12031496062991,&quot;left&quot;:85.5,&quot;top&quot;:386.09763779527555,&quot;width&quot;:521.0585826771653}"/>
</p:tagLst>
</file>

<file path=ppt/tags/tag96.xml><?xml version="1.0" encoding="utf-8"?>
<p:tagLst xmlns:p="http://schemas.openxmlformats.org/presentationml/2006/main">
  <p:tag name="KSO_WM_DIAGRAM_VIRTUALLY_FRAME" val="{&quot;height&quot;:73.12031496062991,&quot;left&quot;:85.5,&quot;top&quot;:386.09763779527555,&quot;width&quot;:521.0585826771653}"/>
</p:tagLst>
</file>

<file path=ppt/tags/tag97.xml><?xml version="1.0" encoding="utf-8"?>
<p:tagLst xmlns:p="http://schemas.openxmlformats.org/presentationml/2006/main">
  <p:tag name="KSO_WM_DIAGRAM_VIRTUALLY_FRAME" val="{&quot;height&quot;:73.12031496062991,&quot;left&quot;:85.5,&quot;top&quot;:386.09763779527555,&quot;width&quot;:521.0585826771653}"/>
</p:tagLst>
</file>

<file path=ppt/tags/tag98.xml><?xml version="1.0" encoding="utf-8"?>
<p:tagLst xmlns:p="http://schemas.openxmlformats.org/presentationml/2006/main">
  <p:tag name="KSO_WM_DIAGRAM_VIRTUALLY_FRAME" val="{&quot;height&quot;:73.12031496062991,&quot;left&quot;:85.5,&quot;top&quot;:386.09763779527555,&quot;width&quot;:521.0585826771653}"/>
</p:tagLst>
</file>

<file path=ppt/tags/tag99.xml><?xml version="1.0" encoding="utf-8"?>
<p:tagLst xmlns:p="http://schemas.openxmlformats.org/presentationml/2006/main">
  <p:tag name="KSO_WM_DIAGRAM_VIRTUALLY_FRAME" val="{&quot;height&quot;:73.12031496062991,&quot;left&quot;:85.5,&quot;top&quot;:386.09763779527555,&quot;width&quot;:521.0585826771653}"/>
</p:tagLst>
</file>

<file path=ppt/tags/tag100.xml><?xml version="1.0" encoding="utf-8"?>
<p:tagLst xmlns:p="http://schemas.openxmlformats.org/presentationml/2006/main">
  <p:tag name="KSO_WM_DIAGRAM_VIRTUALLY_FRAME" val="{&quot;height&quot;:73.12031496062991,&quot;left&quot;:85.5,&quot;top&quot;:386.09763779527555,&quot;width&quot;:521.0585826771653}"/>
</p:tagLst>
</file>

<file path=ppt/tags/tag101.xml><?xml version="1.0" encoding="utf-8"?>
<p:tagLst xmlns:p="http://schemas.openxmlformats.org/presentationml/2006/main">
  <p:tag name="KSO_WM_DIAGRAM_VIRTUALLY_FRAME" val="{&quot;height&quot;:317.15,&quot;left&quot;:44.8,&quot;top&quot;:156.95,&quot;width&quot;:453.15}"/>
</p:tagLst>
</file>

<file path=ppt/tags/tag102.xml><?xml version="1.0" encoding="utf-8"?>
<p:tagLst xmlns:p="http://schemas.openxmlformats.org/presentationml/2006/main">
  <p:tag name="KSO_WM_DIAGRAM_VIRTUALLY_FRAME" val="{&quot;height&quot;:317.15,&quot;left&quot;:44.8,&quot;top&quot;:156.95,&quot;width&quot;:453.15}"/>
</p:tagLst>
</file>

<file path=ppt/tags/tag103.xml><?xml version="1.0" encoding="utf-8"?>
<p:tagLst xmlns:p="http://schemas.openxmlformats.org/presentationml/2006/main">
  <p:tag name="KSO_WM_DIAGRAM_VIRTUALLY_FRAME" val="{&quot;height&quot;:378.05,&quot;left&quot;:40.25,&quot;top&quot;:156.95,&quot;width&quot;:1080.062440944882}"/>
</p:tagLst>
</file>

<file path=ppt/tags/tag104.xml><?xml version="1.0" encoding="utf-8"?>
<p:tagLst xmlns:p="http://schemas.openxmlformats.org/presentationml/2006/main">
  <p:tag name="KSO_WM_DIAGRAM_VIRTUALLY_FRAME" val="{&quot;height&quot;:378.05,&quot;left&quot;:40.25,&quot;top&quot;:156.95,&quot;width&quot;:1080.062440944882}"/>
</p:tagLst>
</file>

<file path=ppt/tags/tag105.xml><?xml version="1.0" encoding="utf-8"?>
<p:tagLst xmlns:p="http://schemas.openxmlformats.org/presentationml/2006/main">
  <p:tag name="KSO_WM_DIAGRAM_VIRTUALLY_FRAME" val="{&quot;height&quot;:378.05,&quot;left&quot;:40.25,&quot;top&quot;:156.95,&quot;width&quot;:1080.062440944882}"/>
</p:tagLst>
</file>

<file path=ppt/tags/tag106.xml><?xml version="1.0" encoding="utf-8"?>
<p:tagLst xmlns:p="http://schemas.openxmlformats.org/presentationml/2006/main">
  <p:tag name="KSO_WM_DIAGRAM_VIRTUALLY_FRAME" val="{&quot;height&quot;:378.05,&quot;left&quot;:40.25,&quot;top&quot;:156.95,&quot;width&quot;:1080.062440944882}"/>
</p:tagLst>
</file>

<file path=ppt/tags/tag107.xml><?xml version="1.0" encoding="utf-8"?>
<p:tagLst xmlns:p="http://schemas.openxmlformats.org/presentationml/2006/main">
  <p:tag name="KSO_WM_DIAGRAM_VIRTUALLY_FRAME" val="{&quot;height&quot;:378.05,&quot;left&quot;:40.25,&quot;top&quot;:156.95,&quot;width&quot;:1080.062440944882}"/>
</p:tagLst>
</file>

<file path=ppt/tags/tag108.xml><?xml version="1.0" encoding="utf-8"?>
<p:tagLst xmlns:p="http://schemas.openxmlformats.org/presentationml/2006/main">
  <p:tag name="KSO_WM_DIAGRAM_VIRTUALLY_FRAME" val="{&quot;height&quot;:378.05,&quot;left&quot;:40.25,&quot;top&quot;:156.95,&quot;width&quot;:1080.062440944882}"/>
</p:tagLst>
</file>

<file path=ppt/tags/tag109.xml><?xml version="1.0" encoding="utf-8"?>
<p:tagLst xmlns:p="http://schemas.openxmlformats.org/presentationml/2006/main">
  <p:tag name="KSO_WM_DIAGRAM_VIRTUALLY_FRAME" val="{&quot;height&quot;:378.05,&quot;left&quot;:40.25,&quot;top&quot;:156.95,&quot;width&quot;:1080.062440944882}"/>
</p:tagLst>
</file>

<file path=ppt/tags/tag110.xml><?xml version="1.0" encoding="utf-8"?>
<p:tagLst xmlns:p="http://schemas.openxmlformats.org/presentationml/2006/main">
  <p:tag name="KSO_WM_DIAGRAM_VIRTUALLY_FRAME" val="{&quot;height&quot;:378.05,&quot;left&quot;:40.25,&quot;top&quot;:156.95,&quot;width&quot;:1080.062440944882}"/>
</p:tagLst>
</file>

<file path=ppt/tags/tag111.xml><?xml version="1.0" encoding="utf-8"?>
<p:tagLst xmlns:p="http://schemas.openxmlformats.org/presentationml/2006/main">
  <p:tag name="KSO_WM_DIAGRAM_VIRTUALLY_FRAME" val="{&quot;height&quot;:378.05,&quot;left&quot;:40.25,&quot;top&quot;:156.95,&quot;width&quot;:1080.062440944882}"/>
</p:tagLst>
</file>

<file path=ppt/tags/tag112.xml><?xml version="1.0" encoding="utf-8"?>
<p:tagLst xmlns:p="http://schemas.openxmlformats.org/presentationml/2006/main">
  <p:tag name="KSO_WM_DIAGRAM_VIRTUALLY_FRAME" val="{&quot;height&quot;:378.05,&quot;left&quot;:40.25,&quot;top&quot;:156.95,&quot;width&quot;:1080.062440944882}"/>
</p:tagLst>
</file>

<file path=ppt/tags/tag113.xml><?xml version="1.0" encoding="utf-8"?>
<p:tagLst xmlns:p="http://schemas.openxmlformats.org/presentationml/2006/main">
  <p:tag name="KSO_WM_DIAGRAM_VIRTUALLY_FRAME" val="{&quot;height&quot;:378.05,&quot;left&quot;:40.25,&quot;top&quot;:156.95,&quot;width&quot;:1080.062440944882}"/>
</p:tagLst>
</file>

<file path=ppt/tags/tag114.xml><?xml version="1.0" encoding="utf-8"?>
<p:tagLst xmlns:p="http://schemas.openxmlformats.org/presentationml/2006/main">
  <p:tag name="resource_record_key" val="{&quot;10&quot;:[20090618]}"/>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5645</Words>
  <Application>WPS 演示</Application>
  <PresentationFormat/>
  <Paragraphs>454</Paragraphs>
  <Slides>27</Slides>
  <Notes>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27</vt:i4>
      </vt:variant>
    </vt:vector>
  </HeadingPairs>
  <TitlesOfParts>
    <vt:vector size="50" baseType="lpstr">
      <vt:lpstr>Arial</vt:lpstr>
      <vt:lpstr>宋体</vt:lpstr>
      <vt:lpstr>Wingdings</vt:lpstr>
      <vt:lpstr>Arial</vt:lpstr>
      <vt:lpstr>Calibri</vt:lpstr>
      <vt:lpstr>Noto Sans SC</vt:lpstr>
      <vt:lpstr>微软雅黑</vt:lpstr>
      <vt:lpstr>Arial Unicode MS</vt:lpstr>
      <vt:lpstr>Merriweather</vt:lpstr>
      <vt:lpstr>LaTeX</vt:lpstr>
      <vt:lpstr>DM Sans</vt:lpstr>
      <vt:lpstr>Urbanist</vt:lpstr>
      <vt:lpstr>Poppins SemiBold</vt:lpstr>
      <vt:lpstr>Lato</vt:lpstr>
      <vt:lpstr>Calibri</vt:lpstr>
      <vt:lpstr>KSOF91A78165</vt:lpstr>
      <vt:lpstr>KSOFFD631264</vt:lpstr>
      <vt:lpstr>黑体</vt:lpstr>
      <vt:lpstr>Lato</vt:lpstr>
      <vt:lpstr>Merriweather</vt:lpstr>
      <vt:lpstr>Poppins SemiBold</vt:lpstr>
      <vt:lpstr>Crunch SemiBold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鸽子JUN</cp:lastModifiedBy>
  <cp:revision>1</cp:revision>
  <dcterms:created xsi:type="dcterms:W3CDTF">2026-06-30T10:48:28Z</dcterms:created>
  <dcterms:modified xsi:type="dcterms:W3CDTF">2026-06-30T10:48:34Z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37B606585B7B48D486D89628EAEE09F6_12</vt:lpwstr>
  </property>
</Properties>
</file>